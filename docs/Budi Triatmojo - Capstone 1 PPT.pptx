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sldIdLst>
    <p:sldId id="256" r:id="rId2"/>
    <p:sldId id="283" r:id="rId3"/>
    <p:sldId id="284" r:id="rId4"/>
    <p:sldId id="286" r:id="rId5"/>
    <p:sldId id="290" r:id="rId6"/>
    <p:sldId id="288" r:id="rId7"/>
    <p:sldId id="287" r:id="rId8"/>
    <p:sldId id="291" r:id="rId9"/>
    <p:sldId id="289" r:id="rId10"/>
    <p:sldId id="285" r:id="rId11"/>
    <p:sldId id="293" r:id="rId12"/>
    <p:sldId id="294" r:id="rId13"/>
    <p:sldId id="295" r:id="rId14"/>
    <p:sldId id="272" r:id="rId15"/>
    <p:sldId id="282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Inter Tight Regular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>
          <p15:clr>
            <a:srgbClr val="A4A3A4"/>
          </p15:clr>
        </p15:guide>
        <p15:guide id="2" pos="264">
          <p15:clr>
            <a:srgbClr val="A4A3A4"/>
          </p15:clr>
        </p15:guide>
        <p15:guide id="3" pos="74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3" autoAdjust="0"/>
    <p:restoredTop sz="94660"/>
  </p:normalViewPr>
  <p:slideViewPr>
    <p:cSldViewPr snapToGrid="0">
      <p:cViewPr>
        <p:scale>
          <a:sx n="121" d="100"/>
          <a:sy n="121" d="100"/>
        </p:scale>
        <p:origin x="-304" y="672"/>
      </p:cViewPr>
      <p:guideLst>
        <p:guide orient="horz" pos="288"/>
        <p:guide pos="264"/>
        <p:guide pos="74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3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Young successful businessman looking at camera">
            <a:extLst>
              <a:ext uri="{FF2B5EF4-FFF2-40B4-BE49-F238E27FC236}">
                <a16:creationId xmlns:a16="http://schemas.microsoft.com/office/drawing/2014/main" id="{400C36C2-04A8-71E7-7D59-A2F0BBD3C8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42629" r="11369" b="31091"/>
          <a:stretch/>
        </p:blipFill>
        <p:spPr bwMode="auto">
          <a:xfrm>
            <a:off x="3590906" y="5351671"/>
            <a:ext cx="274638" cy="274637"/>
          </a:xfrm>
          <a:prstGeom prst="ellipse">
            <a:avLst/>
          </a:prstGeom>
          <a:noFill/>
        </p:spPr>
      </p:pic>
      <p:pic>
        <p:nvPicPr>
          <p:cNvPr id="3" name="Picture 4" descr="Smiling businessman with arms crossed">
            <a:extLst>
              <a:ext uri="{FF2B5EF4-FFF2-40B4-BE49-F238E27FC236}">
                <a16:creationId xmlns:a16="http://schemas.microsoft.com/office/drawing/2014/main" id="{66B2E3A4-86D3-4DBE-F02E-3BC5B8B6D1F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36235" r="15729" b="51964"/>
          <a:stretch/>
        </p:blipFill>
        <p:spPr bwMode="auto">
          <a:xfrm>
            <a:off x="3766886" y="5351671"/>
            <a:ext cx="274638" cy="274637"/>
          </a:xfrm>
          <a:prstGeom prst="ellipse">
            <a:avLst/>
          </a:prstGeom>
          <a:noFill/>
        </p:spPr>
      </p:pic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5272949" y="1554594"/>
            <a:ext cx="3111687" cy="4123766"/>
          </a:xfrm>
          <a:custGeom>
            <a:avLst/>
            <a:gdLst>
              <a:gd name="connsiteX0" fmla="*/ 1059471 w 3111687"/>
              <a:gd name="connsiteY0" fmla="*/ 0 h 4123766"/>
              <a:gd name="connsiteX1" fmla="*/ 2961088 w 3111687"/>
              <a:gd name="connsiteY1" fmla="*/ 0 h 4123766"/>
              <a:gd name="connsiteX2" fmla="*/ 3111687 w 3111687"/>
              <a:gd name="connsiteY2" fmla="*/ 146466 h 4123766"/>
              <a:gd name="connsiteX3" fmla="*/ 3111593 w 3111687"/>
              <a:gd name="connsiteY3" fmla="*/ 146466 h 4123766"/>
              <a:gd name="connsiteX4" fmla="*/ 3111593 w 3111687"/>
              <a:gd name="connsiteY4" fmla="*/ 3076327 h 4123766"/>
              <a:gd name="connsiteX5" fmla="*/ 3010848 w 3111687"/>
              <a:gd name="connsiteY5" fmla="*/ 3312798 h 4123766"/>
              <a:gd name="connsiteX6" fmla="*/ 2277738 w 3111687"/>
              <a:gd name="connsiteY6" fmla="*/ 4025787 h 4123766"/>
              <a:gd name="connsiteX7" fmla="*/ 2034593 w 3111687"/>
              <a:gd name="connsiteY7" fmla="*/ 4123766 h 4123766"/>
              <a:gd name="connsiteX8" fmla="*/ 150600 w 3111687"/>
              <a:gd name="connsiteY8" fmla="*/ 4123766 h 4123766"/>
              <a:gd name="connsiteX9" fmla="*/ 0 w 3111687"/>
              <a:gd name="connsiteY9" fmla="*/ 3977301 h 4123766"/>
              <a:gd name="connsiteX10" fmla="*/ 0 w 3111687"/>
              <a:gd name="connsiteY10" fmla="*/ 1030392 h 4123766"/>
              <a:gd name="connsiteX11" fmla="*/ 100745 w 3111687"/>
              <a:gd name="connsiteY11" fmla="*/ 793921 h 4123766"/>
              <a:gd name="connsiteX12" fmla="*/ 816231 w 3111687"/>
              <a:gd name="connsiteY12" fmla="*/ 97980 h 4123766"/>
              <a:gd name="connsiteX13" fmla="*/ 1059471 w 3111687"/>
              <a:gd name="connsiteY13" fmla="*/ 0 h 412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11687" h="4123766">
                <a:moveTo>
                  <a:pt x="1059471" y="0"/>
                </a:moveTo>
                <a:lnTo>
                  <a:pt x="2961088" y="0"/>
                </a:lnTo>
                <a:cubicBezTo>
                  <a:pt x="3044210" y="0"/>
                  <a:pt x="3111687" y="65534"/>
                  <a:pt x="3111687" y="146466"/>
                </a:cubicBezTo>
                <a:lnTo>
                  <a:pt x="3111593" y="146466"/>
                </a:lnTo>
                <a:lnTo>
                  <a:pt x="3111593" y="3076327"/>
                </a:lnTo>
                <a:cubicBezTo>
                  <a:pt x="3111593" y="3165049"/>
                  <a:pt x="3075403" y="3250106"/>
                  <a:pt x="3010848" y="3312798"/>
                </a:cubicBezTo>
                <a:lnTo>
                  <a:pt x="2277738" y="4025787"/>
                </a:lnTo>
                <a:cubicBezTo>
                  <a:pt x="2213276" y="4088479"/>
                  <a:pt x="2125819" y="4123766"/>
                  <a:pt x="2034593" y="4123766"/>
                </a:cubicBezTo>
                <a:lnTo>
                  <a:pt x="150600" y="4123766"/>
                </a:lnTo>
                <a:cubicBezTo>
                  <a:pt x="67478" y="4123766"/>
                  <a:pt x="0" y="4058232"/>
                  <a:pt x="0" y="3977301"/>
                </a:cubicBezTo>
                <a:lnTo>
                  <a:pt x="0" y="1030392"/>
                </a:lnTo>
                <a:cubicBezTo>
                  <a:pt x="0" y="941670"/>
                  <a:pt x="36189" y="856613"/>
                  <a:pt x="100745" y="793921"/>
                </a:cubicBezTo>
                <a:lnTo>
                  <a:pt x="816231" y="97980"/>
                </a:lnTo>
                <a:cubicBezTo>
                  <a:pt x="880788" y="35196"/>
                  <a:pt x="968244" y="0"/>
                  <a:pt x="105947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9715500" y="1624013"/>
            <a:ext cx="846138" cy="755650"/>
          </a:xfrm>
          <a:prstGeom prst="roundRect">
            <a:avLst>
              <a:gd name="adj" fmla="val 10995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3590906" y="5351671"/>
            <a:ext cx="274638" cy="274637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1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3766886" y="5351671"/>
            <a:ext cx="274638" cy="274637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9462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419802" y="3906931"/>
            <a:ext cx="2431242" cy="1770062"/>
          </a:xfrm>
          <a:custGeom>
            <a:avLst/>
            <a:gdLst>
              <a:gd name="connsiteX0" fmla="*/ 80578 w 2431242"/>
              <a:gd name="connsiteY0" fmla="*/ 0 h 1770062"/>
              <a:gd name="connsiteX1" fmla="*/ 1824949 w 2431242"/>
              <a:gd name="connsiteY1" fmla="*/ 0 h 1770062"/>
              <a:gd name="connsiteX2" fmla="*/ 1852358 w 2431242"/>
              <a:gd name="connsiteY2" fmla="*/ 2690 h 1770062"/>
              <a:gd name="connsiteX3" fmla="*/ 1953121 w 2431242"/>
              <a:gd name="connsiteY3" fmla="*/ 56251 h 1770062"/>
              <a:gd name="connsiteX4" fmla="*/ 2373476 w 2431242"/>
              <a:gd name="connsiteY4" fmla="*/ 473611 h 1770062"/>
              <a:gd name="connsiteX5" fmla="*/ 2431242 w 2431242"/>
              <a:gd name="connsiteY5" fmla="*/ 612033 h 1770062"/>
              <a:gd name="connsiteX6" fmla="*/ 2431242 w 2431242"/>
              <a:gd name="connsiteY6" fmla="*/ 1684592 h 1770062"/>
              <a:gd name="connsiteX7" fmla="*/ 2378512 w 2431242"/>
              <a:gd name="connsiteY7" fmla="*/ 1763586 h 1770062"/>
              <a:gd name="connsiteX8" fmla="*/ 2346214 w 2431242"/>
              <a:gd name="connsiteY8" fmla="*/ 1770062 h 1770062"/>
              <a:gd name="connsiteX9" fmla="*/ 604780 w 2431242"/>
              <a:gd name="connsiteY9" fmla="*/ 1770062 h 1770062"/>
              <a:gd name="connsiteX10" fmla="*/ 568832 w 2431242"/>
              <a:gd name="connsiteY10" fmla="*/ 1766534 h 1770062"/>
              <a:gd name="connsiteX11" fmla="*/ 468070 w 2431242"/>
              <a:gd name="connsiteY11" fmla="*/ 1712974 h 1770062"/>
              <a:gd name="connsiteX12" fmla="*/ 57766 w 2431242"/>
              <a:gd name="connsiteY12" fmla="*/ 1305647 h 1770062"/>
              <a:gd name="connsiteX13" fmla="*/ 0 w 2431242"/>
              <a:gd name="connsiteY13" fmla="*/ 1167171 h 1770062"/>
              <a:gd name="connsiteX14" fmla="*/ 0 w 2431242"/>
              <a:gd name="connsiteY14" fmla="*/ 84579 h 1770062"/>
              <a:gd name="connsiteX15" fmla="*/ 52729 w 2431242"/>
              <a:gd name="connsiteY15" fmla="*/ 5584 h 177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31242" h="1770062">
                <a:moveTo>
                  <a:pt x="80578" y="0"/>
                </a:moveTo>
                <a:lnTo>
                  <a:pt x="1824949" y="0"/>
                </a:lnTo>
                <a:lnTo>
                  <a:pt x="1852358" y="2690"/>
                </a:lnTo>
                <a:cubicBezTo>
                  <a:pt x="1890262" y="10207"/>
                  <a:pt x="1925399" y="28687"/>
                  <a:pt x="1953121" y="56251"/>
                </a:cubicBezTo>
                <a:lnTo>
                  <a:pt x="2373476" y="473611"/>
                </a:lnTo>
                <a:cubicBezTo>
                  <a:pt x="2410438" y="510309"/>
                  <a:pt x="2431242" y="560098"/>
                  <a:pt x="2431242" y="612033"/>
                </a:cubicBezTo>
                <a:lnTo>
                  <a:pt x="2431242" y="1684592"/>
                </a:lnTo>
                <a:cubicBezTo>
                  <a:pt x="2431242" y="1720082"/>
                  <a:pt x="2409508" y="1750564"/>
                  <a:pt x="2378512" y="1763586"/>
                </a:cubicBezTo>
                <a:lnTo>
                  <a:pt x="2346214" y="1770062"/>
                </a:lnTo>
                <a:lnTo>
                  <a:pt x="604780" y="1770062"/>
                </a:lnTo>
                <a:lnTo>
                  <a:pt x="568832" y="1766534"/>
                </a:lnTo>
                <a:cubicBezTo>
                  <a:pt x="530929" y="1759017"/>
                  <a:pt x="495791" y="1740538"/>
                  <a:pt x="468070" y="1712974"/>
                </a:cubicBezTo>
                <a:lnTo>
                  <a:pt x="57766" y="1305647"/>
                </a:lnTo>
                <a:cubicBezTo>
                  <a:pt x="20750" y="1268896"/>
                  <a:pt x="0" y="1219106"/>
                  <a:pt x="0" y="1167171"/>
                </a:cubicBezTo>
                <a:lnTo>
                  <a:pt x="0" y="84579"/>
                </a:lnTo>
                <a:cubicBezTo>
                  <a:pt x="0" y="49088"/>
                  <a:pt x="21733" y="18607"/>
                  <a:pt x="52729" y="558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3340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4875866" y="1797844"/>
            <a:ext cx="659260" cy="707231"/>
          </a:xfrm>
          <a:prstGeom prst="roundRect">
            <a:avLst>
              <a:gd name="adj" fmla="val 8828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105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889500" y="1841054"/>
            <a:ext cx="2777428" cy="2910970"/>
          </a:xfrm>
          <a:custGeom>
            <a:avLst/>
            <a:gdLst>
              <a:gd name="connsiteX0" fmla="*/ 880950 w 2777428"/>
              <a:gd name="connsiteY0" fmla="*/ 0 h 2910970"/>
              <a:gd name="connsiteX1" fmla="*/ 2668382 w 2777428"/>
              <a:gd name="connsiteY1" fmla="*/ 0 h 2910970"/>
              <a:gd name="connsiteX2" fmla="*/ 2777428 w 2777428"/>
              <a:gd name="connsiteY2" fmla="*/ 109047 h 2910970"/>
              <a:gd name="connsiteX3" fmla="*/ 2777428 w 2777428"/>
              <a:gd name="connsiteY3" fmla="*/ 2910970 h 2910970"/>
              <a:gd name="connsiteX4" fmla="*/ 0 w 2777428"/>
              <a:gd name="connsiteY4" fmla="*/ 1497646 h 2910970"/>
              <a:gd name="connsiteX5" fmla="*/ 0 w 2777428"/>
              <a:gd name="connsiteY5" fmla="*/ 869237 h 2910970"/>
              <a:gd name="connsiteX6" fmla="*/ 3055 w 2777428"/>
              <a:gd name="connsiteY6" fmla="*/ 838366 h 2910970"/>
              <a:gd name="connsiteX7" fmla="*/ 55659 w 2777428"/>
              <a:gd name="connsiteY7" fmla="*/ 740063 h 2910970"/>
              <a:gd name="connsiteX8" fmla="*/ 735449 w 2777428"/>
              <a:gd name="connsiteY8" fmla="*/ 60273 h 2910970"/>
              <a:gd name="connsiteX9" fmla="*/ 880950 w 2777428"/>
              <a:gd name="connsiteY9" fmla="*/ 0 h 291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77428" h="2910970">
                <a:moveTo>
                  <a:pt x="880950" y="0"/>
                </a:moveTo>
                <a:lnTo>
                  <a:pt x="2668382" y="0"/>
                </a:lnTo>
                <a:cubicBezTo>
                  <a:pt x="2728606" y="0"/>
                  <a:pt x="2777428" y="48822"/>
                  <a:pt x="2777428" y="109047"/>
                </a:cubicBezTo>
                <a:lnTo>
                  <a:pt x="2777428" y="2910970"/>
                </a:lnTo>
                <a:lnTo>
                  <a:pt x="0" y="1497646"/>
                </a:lnTo>
                <a:lnTo>
                  <a:pt x="0" y="869237"/>
                </a:lnTo>
                <a:lnTo>
                  <a:pt x="3055" y="838366"/>
                </a:lnTo>
                <a:cubicBezTo>
                  <a:pt x="10446" y="801393"/>
                  <a:pt x="28609" y="767113"/>
                  <a:pt x="55659" y="740063"/>
                </a:cubicBezTo>
                <a:lnTo>
                  <a:pt x="735449" y="60273"/>
                </a:lnTo>
                <a:cubicBezTo>
                  <a:pt x="774029" y="21694"/>
                  <a:pt x="826378" y="0"/>
                  <a:pt x="880950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8475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33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9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19100" y="1631592"/>
            <a:ext cx="1844675" cy="1707416"/>
          </a:xfrm>
          <a:custGeom>
            <a:avLst/>
            <a:gdLst>
              <a:gd name="connsiteX0" fmla="*/ 585426 w 1844675"/>
              <a:gd name="connsiteY0" fmla="*/ 0 h 1707416"/>
              <a:gd name="connsiteX1" fmla="*/ 1772335 w 1844675"/>
              <a:gd name="connsiteY1" fmla="*/ 0 h 1707416"/>
              <a:gd name="connsiteX2" fmla="*/ 1839055 w 1844675"/>
              <a:gd name="connsiteY2" fmla="*/ 39065 h 1707416"/>
              <a:gd name="connsiteX3" fmla="*/ 1844675 w 1844675"/>
              <a:gd name="connsiteY3" fmla="*/ 63656 h 1707416"/>
              <a:gd name="connsiteX4" fmla="*/ 1844675 w 1844675"/>
              <a:gd name="connsiteY4" fmla="*/ 1707416 h 1707416"/>
              <a:gd name="connsiteX5" fmla="*/ 0 w 1844675"/>
              <a:gd name="connsiteY5" fmla="*/ 878251 h 1707416"/>
              <a:gd name="connsiteX6" fmla="*/ 0 w 1844675"/>
              <a:gd name="connsiteY6" fmla="*/ 513864 h 1707416"/>
              <a:gd name="connsiteX7" fmla="*/ 37408 w 1844675"/>
              <a:gd name="connsiteY7" fmla="*/ 434088 h 1707416"/>
              <a:gd name="connsiteX8" fmla="*/ 488809 w 1844675"/>
              <a:gd name="connsiteY8" fmla="*/ 35354 h 1707416"/>
              <a:gd name="connsiteX9" fmla="*/ 585426 w 1844675"/>
              <a:gd name="connsiteY9" fmla="*/ 0 h 170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44675" h="1707416">
                <a:moveTo>
                  <a:pt x="585426" y="0"/>
                </a:moveTo>
                <a:lnTo>
                  <a:pt x="1772335" y="0"/>
                </a:lnTo>
                <a:cubicBezTo>
                  <a:pt x="1802328" y="0"/>
                  <a:pt x="1828062" y="16108"/>
                  <a:pt x="1839055" y="39065"/>
                </a:cubicBezTo>
                <a:lnTo>
                  <a:pt x="1844675" y="63656"/>
                </a:lnTo>
                <a:lnTo>
                  <a:pt x="1844675" y="1707416"/>
                </a:lnTo>
                <a:lnTo>
                  <a:pt x="0" y="878251"/>
                </a:lnTo>
                <a:lnTo>
                  <a:pt x="0" y="513864"/>
                </a:lnTo>
                <a:cubicBezTo>
                  <a:pt x="0" y="483937"/>
                  <a:pt x="13459" y="455244"/>
                  <a:pt x="37408" y="434088"/>
                </a:cubicBezTo>
                <a:lnTo>
                  <a:pt x="488809" y="35354"/>
                </a:lnTo>
                <a:cubicBezTo>
                  <a:pt x="514427" y="12725"/>
                  <a:pt x="549189" y="0"/>
                  <a:pt x="585426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379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330D02-6910-131F-B543-23FBB8899981}"/>
              </a:ext>
            </a:extLst>
          </p:cNvPr>
          <p:cNvSpPr/>
          <p:nvPr userDrawn="1"/>
        </p:nvSpPr>
        <p:spPr>
          <a:xfrm>
            <a:off x="6148388" y="1836738"/>
            <a:ext cx="660400" cy="652462"/>
          </a:xfrm>
          <a:prstGeom prst="roundRect">
            <a:avLst>
              <a:gd name="adj" fmla="val 924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6148786" y="1836005"/>
            <a:ext cx="659260" cy="653496"/>
          </a:xfrm>
          <a:prstGeom prst="roundRect">
            <a:avLst>
              <a:gd name="adj" fmla="val 8828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716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32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605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830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332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F2D37E-398D-5A87-B995-8AEFC754AD90}"/>
              </a:ext>
            </a:extLst>
          </p:cNvPr>
          <p:cNvSpPr/>
          <p:nvPr userDrawn="1"/>
        </p:nvSpPr>
        <p:spPr>
          <a:xfrm>
            <a:off x="514350" y="4967288"/>
            <a:ext cx="660400" cy="652462"/>
          </a:xfrm>
          <a:prstGeom prst="roundRect">
            <a:avLst>
              <a:gd name="adj" fmla="val 924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514903" y="4966806"/>
            <a:ext cx="659260" cy="653496"/>
          </a:xfrm>
          <a:prstGeom prst="roundRect">
            <a:avLst>
              <a:gd name="adj" fmla="val 8828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32422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C02375-E097-3CE6-02BD-3626D4BBCA4B}"/>
              </a:ext>
            </a:extLst>
          </p:cNvPr>
          <p:cNvSpPr/>
          <p:nvPr userDrawn="1"/>
        </p:nvSpPr>
        <p:spPr>
          <a:xfrm>
            <a:off x="9928225" y="1957388"/>
            <a:ext cx="1844675" cy="1206500"/>
          </a:xfrm>
          <a:prstGeom prst="roundRect">
            <a:avLst>
              <a:gd name="adj" fmla="val 844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9927769" y="1957719"/>
            <a:ext cx="1845129" cy="1205776"/>
          </a:xfrm>
          <a:prstGeom prst="roundRect">
            <a:avLst>
              <a:gd name="adj" fmla="val 8038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776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C3E8FB-ED75-A727-F986-EDFACB52B072}"/>
              </a:ext>
            </a:extLst>
          </p:cNvPr>
          <p:cNvSpPr/>
          <p:nvPr userDrawn="1"/>
        </p:nvSpPr>
        <p:spPr>
          <a:xfrm>
            <a:off x="9578975" y="3414713"/>
            <a:ext cx="687388" cy="722312"/>
          </a:xfrm>
          <a:prstGeom prst="roundRect">
            <a:avLst>
              <a:gd name="adj" fmla="val 9244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9579769" y="3415025"/>
            <a:ext cx="686779" cy="721524"/>
          </a:xfrm>
          <a:prstGeom prst="roundRect">
            <a:avLst>
              <a:gd name="adj" fmla="val 8828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5281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12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267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163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117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525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082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8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188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8502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94A0AE-F316-E1EE-A275-55A7EFBA1A00}"/>
              </a:ext>
            </a:extLst>
          </p:cNvPr>
          <p:cNvSpPr/>
          <p:nvPr userDrawn="1"/>
        </p:nvSpPr>
        <p:spPr>
          <a:xfrm>
            <a:off x="10891838" y="5227638"/>
            <a:ext cx="909637" cy="933450"/>
          </a:xfrm>
          <a:prstGeom prst="roundRect">
            <a:avLst>
              <a:gd name="adj" fmla="val 1237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FF0B4B-10A3-BA93-E9CB-85BF37DEA67A}"/>
              </a:ext>
            </a:extLst>
          </p:cNvPr>
          <p:cNvSpPr/>
          <p:nvPr userDrawn="1"/>
        </p:nvSpPr>
        <p:spPr>
          <a:xfrm>
            <a:off x="419100" y="1447800"/>
            <a:ext cx="898525" cy="931863"/>
          </a:xfrm>
          <a:prstGeom prst="roundRect">
            <a:avLst>
              <a:gd name="adj" fmla="val 1025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419100" y="1447799"/>
            <a:ext cx="898546" cy="932521"/>
          </a:xfrm>
          <a:prstGeom prst="roundRect">
            <a:avLst>
              <a:gd name="adj" fmla="val 9623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10892511" y="5228132"/>
            <a:ext cx="904127" cy="932521"/>
          </a:xfrm>
          <a:prstGeom prst="roundRect">
            <a:avLst>
              <a:gd name="adj" fmla="val 11203"/>
            </a:avLst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953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0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707" r:id="rId9"/>
    <p:sldLayoutId id="2147483693" r:id="rId10"/>
    <p:sldLayoutId id="2147483694" r:id="rId11"/>
    <p:sldLayoutId id="2147483695" r:id="rId12"/>
    <p:sldLayoutId id="2147483696" r:id="rId13"/>
    <p:sldLayoutId id="2147483708" r:id="rId14"/>
    <p:sldLayoutId id="2147483709" r:id="rId15"/>
    <p:sldLayoutId id="2147483710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11" r:id="rId26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nter Tight Regular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5" name="Picture 37">
            <a:extLst>
              <a:ext uri="{FF2B5EF4-FFF2-40B4-BE49-F238E27FC236}">
                <a16:creationId xmlns:a16="http://schemas.microsoft.com/office/drawing/2014/main" id="{53AA2DD0-DB41-DE3F-B950-EB5112F9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42128"/>
            <a:ext cx="12192000" cy="327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Placeholder 4" descr="A blue squares in a black background&#10;&#10;AI-generated content may be incorrect.">
            <a:extLst>
              <a:ext uri="{FF2B5EF4-FFF2-40B4-BE49-F238E27FC236}">
                <a16:creationId xmlns:a16="http://schemas.microsoft.com/office/drawing/2014/main" id="{75B9CAE6-9677-D94D-9DDE-DCB562B4793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4" r="23054"/>
          <a:stretch>
            <a:fillRect/>
          </a:stretch>
        </p:blipFill>
        <p:spPr>
          <a:xfrm>
            <a:off x="496094" y="964643"/>
            <a:ext cx="4065020" cy="5388225"/>
          </a:xfr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33B71A-B711-77F9-A108-8FD4DFF20D74}"/>
              </a:ext>
            </a:extLst>
          </p:cNvPr>
          <p:cNvSpPr txBox="1"/>
          <p:nvPr/>
        </p:nvSpPr>
        <p:spPr>
          <a:xfrm>
            <a:off x="4865915" y="2667180"/>
            <a:ext cx="6829991" cy="215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dirty="0">
                <a:latin typeface="Avenir Book" panose="02000503020000020003" pitchFamily="2" charset="0"/>
              </a:rPr>
              <a:t>Capstone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3E1C2-5A80-5A09-CF15-5263EA475FAA}"/>
              </a:ext>
            </a:extLst>
          </p:cNvPr>
          <p:cNvSpPr txBox="1"/>
          <p:nvPr/>
        </p:nvSpPr>
        <p:spPr>
          <a:xfrm>
            <a:off x="4938315" y="6041000"/>
            <a:ext cx="29156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latin typeface="Avenir Book" panose="02000503020000020003" pitchFamily="2" charset="0"/>
              </a:rPr>
              <a:t>Mentor: Samsudin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AB3A23-87FA-2C04-289E-881061D3AB91}"/>
              </a:ext>
            </a:extLst>
          </p:cNvPr>
          <p:cNvSpPr txBox="1"/>
          <p:nvPr/>
        </p:nvSpPr>
        <p:spPr>
          <a:xfrm>
            <a:off x="4938315" y="1773226"/>
            <a:ext cx="5177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Avenir Book" panose="02000503020000020003" pitchFamily="2" charset="0"/>
              </a:rPr>
              <a:t>Project – Module 01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7034523-8C61-6697-650A-3542A3104541}"/>
              </a:ext>
            </a:extLst>
          </p:cNvPr>
          <p:cNvSpPr/>
          <p:nvPr/>
        </p:nvSpPr>
        <p:spPr>
          <a:xfrm>
            <a:off x="5072413" y="4530713"/>
            <a:ext cx="431324" cy="952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6294D-CE0B-47C4-865B-89CD9D00467D}"/>
              </a:ext>
            </a:extLst>
          </p:cNvPr>
          <p:cNvSpPr txBox="1"/>
          <p:nvPr/>
        </p:nvSpPr>
        <p:spPr>
          <a:xfrm>
            <a:off x="4938315" y="4727762"/>
            <a:ext cx="7261102" cy="675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latin typeface="Avenir Book" panose="02000503020000020003" pitchFamily="2" charset="0"/>
              </a:rPr>
              <a:t>NYC Taxi Data Pipeline Extraction</a:t>
            </a:r>
            <a:endParaRPr lang="en-ID" sz="2400" dirty="0">
              <a:latin typeface="Avenir Book" panose="02000503020000020003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C8E4D-72D5-037D-6908-60CAF7F23324}"/>
              </a:ext>
            </a:extLst>
          </p:cNvPr>
          <p:cNvSpPr txBox="1"/>
          <p:nvPr/>
        </p:nvSpPr>
        <p:spPr>
          <a:xfrm>
            <a:off x="6996098" y="6040999"/>
            <a:ext cx="29156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latin typeface="Avenir Book" panose="02000503020000020003" pitchFamily="2" charset="0"/>
              </a:rPr>
              <a:t>Student: Budi Triatmojo</a:t>
            </a:r>
          </a:p>
        </p:txBody>
      </p:sp>
      <p:pic>
        <p:nvPicPr>
          <p:cNvPr id="7207" name="Picture 39" descr="Portfolio | Living Lab">
            <a:extLst>
              <a:ext uri="{FF2B5EF4-FFF2-40B4-BE49-F238E27FC236}">
                <a16:creationId xmlns:a16="http://schemas.microsoft.com/office/drawing/2014/main" id="{7E33C0E6-DDAC-F42F-6668-9B114B174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FC5B30-D061-132D-C052-9B1326AF214F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880AED-2494-4FD4-0F6D-DE44ADB7EAC3}"/>
              </a:ext>
            </a:extLst>
          </p:cNvPr>
          <p:cNvSpPr txBox="1"/>
          <p:nvPr/>
        </p:nvSpPr>
        <p:spPr>
          <a:xfrm>
            <a:off x="303213" y="1846263"/>
            <a:ext cx="3748087" cy="7017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latin typeface="+mj-lt"/>
              </a:rPr>
              <a:t>Daftar Isi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5C9F7E-CADE-01B6-B770-F7698DB9FB89}"/>
              </a:ext>
            </a:extLst>
          </p:cNvPr>
          <p:cNvSpPr txBox="1"/>
          <p:nvPr/>
        </p:nvSpPr>
        <p:spPr>
          <a:xfrm>
            <a:off x="4012488" y="1886843"/>
            <a:ext cx="13676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D" sz="1400" dirty="0">
                <a:latin typeface="Avenir Book" panose="02000503020000020003" pitchFamily="2" charset="0"/>
              </a:rPr>
              <a:t>Latar </a:t>
            </a:r>
            <a:r>
              <a:rPr lang="en-ID" sz="1400" dirty="0" err="1">
                <a:latin typeface="Avenir Book" panose="02000503020000020003" pitchFamily="2" charset="0"/>
              </a:rPr>
              <a:t>Belakang</a:t>
            </a: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1C3C8-DF21-98CB-9343-F2256F4E631D}"/>
              </a:ext>
            </a:extLst>
          </p:cNvPr>
          <p:cNvSpPr txBox="1"/>
          <p:nvPr/>
        </p:nvSpPr>
        <p:spPr>
          <a:xfrm>
            <a:off x="3526713" y="1886843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01.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924367-C24F-38ED-1C25-A680F02E0407}"/>
              </a:ext>
            </a:extLst>
          </p:cNvPr>
          <p:cNvSpPr txBox="1"/>
          <p:nvPr/>
        </p:nvSpPr>
        <p:spPr>
          <a:xfrm>
            <a:off x="6954125" y="1886843"/>
            <a:ext cx="20457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1" dirty="0">
                <a:latin typeface="Avenir Book" panose="02000503020000020003" pitchFamily="2" charset="0"/>
              </a:rPr>
              <a:t>Data Review &amp; Analysis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CB5367-21AA-1DFC-0EF8-14C2EDDAA237}"/>
              </a:ext>
            </a:extLst>
          </p:cNvPr>
          <p:cNvSpPr txBox="1"/>
          <p:nvPr/>
        </p:nvSpPr>
        <p:spPr>
          <a:xfrm>
            <a:off x="6436600" y="1886843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02.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434CB4-941F-30C2-2B2B-C823EEF4AD83}"/>
              </a:ext>
            </a:extLst>
          </p:cNvPr>
          <p:cNvSpPr txBox="1"/>
          <p:nvPr/>
        </p:nvSpPr>
        <p:spPr>
          <a:xfrm>
            <a:off x="9733838" y="1886843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87217C-6085-291F-08B7-98A4E0AB29E9}"/>
              </a:ext>
            </a:extLst>
          </p:cNvPr>
          <p:cNvSpPr txBox="1"/>
          <p:nvPr/>
        </p:nvSpPr>
        <p:spPr>
          <a:xfrm>
            <a:off x="9213138" y="1886843"/>
            <a:ext cx="24368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03.      Solusi yang </a:t>
            </a:r>
            <a:r>
              <a:rPr lang="en-US" sz="1400" dirty="0" err="1">
                <a:latin typeface="Avenir Book" panose="02000503020000020003" pitchFamily="2" charset="0"/>
              </a:rPr>
              <a:t>diusulkan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BD9DE5-75CD-48D1-C199-2447FCFD304D}"/>
              </a:ext>
            </a:extLst>
          </p:cNvPr>
          <p:cNvSpPr txBox="1"/>
          <p:nvPr/>
        </p:nvSpPr>
        <p:spPr>
          <a:xfrm>
            <a:off x="4012488" y="3390206"/>
            <a:ext cx="10374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1" dirty="0">
                <a:latin typeface="Avenir Book" panose="02000503020000020003" pitchFamily="2" charset="0"/>
              </a:rPr>
              <a:t>Objectives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CD905A-42C4-9DDC-A907-AFF7E2E8AABF}"/>
              </a:ext>
            </a:extLst>
          </p:cNvPr>
          <p:cNvSpPr txBox="1"/>
          <p:nvPr/>
        </p:nvSpPr>
        <p:spPr>
          <a:xfrm>
            <a:off x="3526713" y="339020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04.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F6E0B6-2438-09C7-C6DF-D4C104490213}"/>
              </a:ext>
            </a:extLst>
          </p:cNvPr>
          <p:cNvSpPr txBox="1"/>
          <p:nvPr/>
        </p:nvSpPr>
        <p:spPr>
          <a:xfrm>
            <a:off x="6996988" y="3390206"/>
            <a:ext cx="11128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Diagram &amp;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Alur Project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B990BE-1590-9533-4762-221141E27B8C}"/>
              </a:ext>
            </a:extLst>
          </p:cNvPr>
          <p:cNvSpPr txBox="1"/>
          <p:nvPr/>
        </p:nvSpPr>
        <p:spPr>
          <a:xfrm>
            <a:off x="6436600" y="339020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05.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5F3AD0-B449-0768-00B6-5D025D6E7EE6}"/>
              </a:ext>
            </a:extLst>
          </p:cNvPr>
          <p:cNvSpPr txBox="1"/>
          <p:nvPr/>
        </p:nvSpPr>
        <p:spPr>
          <a:xfrm>
            <a:off x="9733838" y="3390206"/>
            <a:ext cx="12394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1" dirty="0">
                <a:latin typeface="Avenir Book" panose="02000503020000020003" pitchFamily="2" charset="0"/>
              </a:rPr>
              <a:t>Code Review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64A074-FD68-FEFD-5D96-FD493700C5AA}"/>
              </a:ext>
            </a:extLst>
          </p:cNvPr>
          <p:cNvSpPr txBox="1"/>
          <p:nvPr/>
        </p:nvSpPr>
        <p:spPr>
          <a:xfrm>
            <a:off x="9213138" y="339020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06.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D2C4E6-7878-836D-1D29-A4A4C41CF95E}"/>
              </a:ext>
            </a:extLst>
          </p:cNvPr>
          <p:cNvSpPr txBox="1"/>
          <p:nvPr/>
        </p:nvSpPr>
        <p:spPr>
          <a:xfrm>
            <a:off x="4007725" y="4869756"/>
            <a:ext cx="14702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1" dirty="0">
                <a:latin typeface="Avenir Book" panose="02000503020000020003" pitchFamily="2" charset="0"/>
              </a:rPr>
              <a:t>Output &amp; Result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20AD9F-96FD-450B-939F-1B96ECAA58E9}"/>
              </a:ext>
            </a:extLst>
          </p:cNvPr>
          <p:cNvSpPr txBox="1"/>
          <p:nvPr/>
        </p:nvSpPr>
        <p:spPr>
          <a:xfrm>
            <a:off x="3526713" y="486975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07.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603736-F1CF-7720-FCA7-289888DF6346}"/>
              </a:ext>
            </a:extLst>
          </p:cNvPr>
          <p:cNvSpPr txBox="1"/>
          <p:nvPr/>
        </p:nvSpPr>
        <p:spPr>
          <a:xfrm>
            <a:off x="6996988" y="4869756"/>
            <a:ext cx="17844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Kesimpulan &amp; Saran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72288F-6B7A-FAE0-F780-33D64A6D8F50}"/>
              </a:ext>
            </a:extLst>
          </p:cNvPr>
          <p:cNvSpPr txBox="1"/>
          <p:nvPr/>
        </p:nvSpPr>
        <p:spPr>
          <a:xfrm>
            <a:off x="6436600" y="486975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08.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68FABC-0411-7747-357A-6857D3D3B9A5}"/>
              </a:ext>
            </a:extLst>
          </p:cNvPr>
          <p:cNvSpPr txBox="1"/>
          <p:nvPr/>
        </p:nvSpPr>
        <p:spPr>
          <a:xfrm>
            <a:off x="9733838" y="4869756"/>
            <a:ext cx="16866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1" dirty="0">
                <a:latin typeface="Avenir Book" panose="02000503020000020003" pitchFamily="2" charset="0"/>
              </a:rPr>
              <a:t>Next Improvement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397EE6-08FC-CA68-1F99-858A32720F8A}"/>
              </a:ext>
            </a:extLst>
          </p:cNvPr>
          <p:cNvSpPr txBox="1"/>
          <p:nvPr/>
        </p:nvSpPr>
        <p:spPr>
          <a:xfrm>
            <a:off x="9213138" y="4869756"/>
            <a:ext cx="4331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09.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FD1129-FD5C-1FB6-8EAB-C33227C802A7}"/>
              </a:ext>
            </a:extLst>
          </p:cNvPr>
          <p:cNvCxnSpPr>
            <a:cxnSpLocks/>
          </p:cNvCxnSpPr>
          <p:nvPr/>
        </p:nvCxnSpPr>
        <p:spPr>
          <a:xfrm>
            <a:off x="3421938" y="2669481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E546438-52FC-D7B1-E6D8-D1FA6688A7EF}"/>
              </a:ext>
            </a:extLst>
          </p:cNvPr>
          <p:cNvCxnSpPr>
            <a:cxnSpLocks/>
          </p:cNvCxnSpPr>
          <p:nvPr/>
        </p:nvCxnSpPr>
        <p:spPr>
          <a:xfrm>
            <a:off x="3421938" y="4177606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16F4FB-41CF-FD96-F747-17932E54BB21}"/>
              </a:ext>
            </a:extLst>
          </p:cNvPr>
          <p:cNvCxnSpPr>
            <a:cxnSpLocks/>
          </p:cNvCxnSpPr>
          <p:nvPr/>
        </p:nvCxnSpPr>
        <p:spPr>
          <a:xfrm>
            <a:off x="3421938" y="5684143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66039B4-0559-1CFB-B192-582290C166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9100" y="3906838"/>
            <a:ext cx="2432050" cy="17700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420B2-CFAD-3C2D-3543-A6512D4B6FF9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69F1DC84-8604-077A-0F3F-F728A61F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F150-1E6E-5276-DF78-A54FFA2D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C18648-22E7-251A-B98A-9A894A70A731}"/>
              </a:ext>
            </a:extLst>
          </p:cNvPr>
          <p:cNvSpPr txBox="1"/>
          <p:nvPr/>
        </p:nvSpPr>
        <p:spPr>
          <a:xfrm>
            <a:off x="182721" y="1085875"/>
            <a:ext cx="5073459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1. Latar </a:t>
            </a:r>
            <a:r>
              <a:rPr lang="en-US" sz="4400" b="1" dirty="0" err="1">
                <a:latin typeface="Avenir Book" panose="02000503020000020003" pitchFamily="2" charset="0"/>
              </a:rPr>
              <a:t>Belakang</a:t>
            </a:r>
            <a:endParaRPr lang="en-US" sz="4400" b="1" dirty="0">
              <a:latin typeface="Avenir Book" panose="02000503020000020003" pitchFamily="2" charset="0"/>
            </a:endParaRP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F8192B71-F0F1-9521-ACF4-E5C3E5C37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51E24-E0B6-A14A-1CCE-514F019B5B15}"/>
              </a:ext>
            </a:extLst>
          </p:cNvPr>
          <p:cNvSpPr txBox="1"/>
          <p:nvPr/>
        </p:nvSpPr>
        <p:spPr>
          <a:xfrm>
            <a:off x="874738" y="2365616"/>
            <a:ext cx="4893190" cy="449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Industri </a:t>
            </a:r>
            <a:r>
              <a:rPr lang="en-ID" sz="1600" dirty="0" err="1">
                <a:latin typeface="Avenir Book" panose="02000503020000020003" pitchFamily="2" charset="0"/>
              </a:rPr>
              <a:t>transportasi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taksi</a:t>
            </a:r>
            <a:r>
              <a:rPr lang="en-ID" sz="1600" dirty="0">
                <a:latin typeface="Avenir Book" panose="02000503020000020003" pitchFamily="2" charset="0"/>
              </a:rPr>
              <a:t> di New York City </a:t>
            </a:r>
            <a:r>
              <a:rPr lang="en-ID" sz="1600" dirty="0" err="1">
                <a:latin typeface="Avenir Book" panose="02000503020000020003" pitchFamily="2" charset="0"/>
              </a:rPr>
              <a:t>merupakan</a:t>
            </a:r>
            <a:r>
              <a:rPr lang="en-ID" sz="1600" dirty="0">
                <a:latin typeface="Avenir Book" panose="02000503020000020003" pitchFamily="2" charset="0"/>
              </a:rPr>
              <a:t> salah </a:t>
            </a:r>
            <a:r>
              <a:rPr lang="en-ID" sz="1600" dirty="0" err="1">
                <a:latin typeface="Avenir Book" panose="02000503020000020003" pitchFamily="2" charset="0"/>
              </a:rPr>
              <a:t>satu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ekosistem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transportasi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tersibuk</a:t>
            </a:r>
            <a:r>
              <a:rPr lang="en-ID" sz="1600" dirty="0">
                <a:latin typeface="Avenir Book" panose="02000503020000020003" pitchFamily="2" charset="0"/>
              </a:rPr>
              <a:t> di dunia, </a:t>
            </a:r>
            <a:r>
              <a:rPr lang="en-ID" sz="1600" dirty="0" err="1">
                <a:latin typeface="Avenir Book" panose="02000503020000020003" pitchFamily="2" charset="0"/>
              </a:rPr>
              <a:t>dengan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jutaan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perjalanan</a:t>
            </a:r>
            <a:r>
              <a:rPr lang="en-ID" sz="1600" dirty="0">
                <a:latin typeface="Avenir Book" panose="02000503020000020003" pitchFamily="2" charset="0"/>
              </a:rPr>
              <a:t> yang </a:t>
            </a:r>
            <a:r>
              <a:rPr lang="en-ID" sz="1600" dirty="0" err="1">
                <a:latin typeface="Avenir Book" panose="02000503020000020003" pitchFamily="2" charset="0"/>
              </a:rPr>
              <a:t>terjadi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setiap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bulannya</a:t>
            </a:r>
            <a:r>
              <a:rPr lang="en-ID" sz="1600" dirty="0">
                <a:latin typeface="Avenir Book" panose="02000503020000020003" pitchFamily="2" charset="0"/>
              </a:rPr>
              <a:t>. NYC Taxi and </a:t>
            </a:r>
            <a:r>
              <a:rPr lang="en-ID" sz="1600" dirty="0" err="1">
                <a:latin typeface="Avenir Book" panose="02000503020000020003" pitchFamily="2" charset="0"/>
              </a:rPr>
              <a:t>Liamousine</a:t>
            </a:r>
            <a:r>
              <a:rPr lang="en-ID" sz="1600" dirty="0">
                <a:latin typeface="Avenir Book" panose="02000503020000020003" pitchFamily="2" charset="0"/>
              </a:rPr>
              <a:t> Commission (TLC) </a:t>
            </a:r>
            <a:r>
              <a:rPr lang="en-ID" sz="1600" dirty="0" err="1">
                <a:latin typeface="Avenir Book" panose="02000503020000020003" pitchFamily="2" charset="0"/>
              </a:rPr>
              <a:t>secara</a:t>
            </a:r>
            <a:r>
              <a:rPr lang="en-ID" sz="1600" dirty="0">
                <a:latin typeface="Avenir Book" panose="02000503020000020003" pitchFamily="2" charset="0"/>
              </a:rPr>
              <a:t> rutin </a:t>
            </a:r>
            <a:r>
              <a:rPr lang="en-ID" sz="1600" dirty="0" err="1">
                <a:latin typeface="Avenir Book" panose="02000503020000020003" pitchFamily="2" charset="0"/>
              </a:rPr>
              <a:t>mempublikasikan</a:t>
            </a:r>
            <a:r>
              <a:rPr lang="en-ID" sz="1600" dirty="0">
                <a:latin typeface="Avenir Book" panose="02000503020000020003" pitchFamily="2" charset="0"/>
              </a:rPr>
              <a:t> data trip records yang </a:t>
            </a:r>
            <a:r>
              <a:rPr lang="en-ID" sz="1600" dirty="0" err="1">
                <a:latin typeface="Avenir Book" panose="02000503020000020003" pitchFamily="2" charset="0"/>
              </a:rPr>
              <a:t>mencakup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informasi</a:t>
            </a:r>
            <a:r>
              <a:rPr lang="en-ID" sz="1600" dirty="0">
                <a:latin typeface="Avenir Book" panose="02000503020000020003" pitchFamily="2" charset="0"/>
              </a:rPr>
              <a:t> detail </a:t>
            </a:r>
            <a:r>
              <a:rPr lang="en-ID" sz="1600" dirty="0" err="1">
                <a:latin typeface="Avenir Book" panose="02000503020000020003" pitchFamily="2" charset="0"/>
              </a:rPr>
              <a:t>mengenai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setiap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perjalanan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taksi</a:t>
            </a:r>
            <a:r>
              <a:rPr lang="en-ID" sz="1600" dirty="0">
                <a:latin typeface="Avenir Book" panose="02000503020000020003" pitchFamily="2" charset="0"/>
              </a:rPr>
              <a:t>, </a:t>
            </a:r>
            <a:r>
              <a:rPr lang="en-ID" sz="1600" dirty="0" err="1">
                <a:latin typeface="Avenir Book" panose="02000503020000020003" pitchFamily="2" charset="0"/>
              </a:rPr>
              <a:t>termasuk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waktu</a:t>
            </a:r>
            <a:r>
              <a:rPr lang="en-ID" sz="1600" dirty="0">
                <a:latin typeface="Avenir Book" panose="02000503020000020003" pitchFamily="2" charset="0"/>
              </a:rPr>
              <a:t> pickup/</a:t>
            </a:r>
            <a:r>
              <a:rPr lang="en-ID" sz="1600" dirty="0" err="1">
                <a:latin typeface="Avenir Book" panose="02000503020000020003" pitchFamily="2" charset="0"/>
              </a:rPr>
              <a:t>dropoff</a:t>
            </a:r>
            <a:r>
              <a:rPr lang="en-ID" sz="1600" dirty="0">
                <a:latin typeface="Avenir Book" panose="02000503020000020003" pitchFamily="2" charset="0"/>
              </a:rPr>
              <a:t>, </a:t>
            </a:r>
            <a:r>
              <a:rPr lang="en-ID" sz="1600" dirty="0" err="1">
                <a:latin typeface="Avenir Book" panose="02000503020000020003" pitchFamily="2" charset="0"/>
              </a:rPr>
              <a:t>jarak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tempuh</a:t>
            </a:r>
            <a:r>
              <a:rPr lang="en-ID" sz="1600" dirty="0">
                <a:latin typeface="Avenir Book" panose="02000503020000020003" pitchFamily="2" charset="0"/>
              </a:rPr>
              <a:t>, </a:t>
            </a:r>
            <a:r>
              <a:rPr lang="en-ID" sz="1600" dirty="0" err="1">
                <a:latin typeface="Avenir Book" panose="02000503020000020003" pitchFamily="2" charset="0"/>
              </a:rPr>
              <a:t>tarif</a:t>
            </a:r>
            <a:r>
              <a:rPr lang="en-ID" sz="1600" dirty="0">
                <a:latin typeface="Avenir Book" panose="02000503020000020003" pitchFamily="2" charset="0"/>
              </a:rPr>
              <a:t>, dan </a:t>
            </a:r>
            <a:r>
              <a:rPr lang="en-ID" sz="1600" dirty="0" err="1">
                <a:latin typeface="Avenir Book" panose="02000503020000020003" pitchFamily="2" charset="0"/>
              </a:rPr>
              <a:t>jumlah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penumpang</a:t>
            </a:r>
            <a:r>
              <a:rPr lang="en-ID" sz="1600" dirty="0">
                <a:latin typeface="Avenir Book" panose="02000503020000020003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D" sz="16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br>
              <a:rPr lang="en-ID" sz="1600" dirty="0">
                <a:latin typeface="Avenir Book" panose="02000503020000020003" pitchFamily="2" charset="0"/>
              </a:rPr>
            </a:br>
            <a:endParaRPr lang="en-ID" sz="1600" dirty="0">
              <a:latin typeface="Avenir Book" panose="02000503020000020003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BD5950-45A8-9B78-D21A-0316E660F0A1}"/>
              </a:ext>
            </a:extLst>
          </p:cNvPr>
          <p:cNvCxnSpPr>
            <a:cxnSpLocks/>
          </p:cNvCxnSpPr>
          <p:nvPr/>
        </p:nvCxnSpPr>
        <p:spPr>
          <a:xfrm>
            <a:off x="6138041" y="2387612"/>
            <a:ext cx="0" cy="3271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FBE251-3E8F-D64D-36AC-66CBE0CA2333}"/>
              </a:ext>
            </a:extLst>
          </p:cNvPr>
          <p:cNvSpPr txBox="1"/>
          <p:nvPr/>
        </p:nvSpPr>
        <p:spPr>
          <a:xfrm>
            <a:off x="6723736" y="2365616"/>
            <a:ext cx="4726529" cy="301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Data </a:t>
            </a:r>
            <a:r>
              <a:rPr lang="en-ID" sz="1600" b="1" dirty="0" err="1">
                <a:latin typeface="Avenir Heavy" panose="02000503020000020003" pitchFamily="2" charset="0"/>
              </a:rPr>
              <a:t>ini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memiliki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potensi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besar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untuk</a:t>
            </a:r>
            <a:r>
              <a:rPr lang="en-ID" sz="1600" b="1" dirty="0">
                <a:latin typeface="Avenir Heavy" panose="02000503020000020003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1. </a:t>
            </a:r>
            <a:r>
              <a:rPr lang="en-ID" sz="1600" dirty="0" err="1">
                <a:latin typeface="Avenir Book" panose="02000503020000020003" pitchFamily="2" charset="0"/>
              </a:rPr>
              <a:t>Memahami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pola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operasional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taksi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harian</a:t>
            </a:r>
            <a:r>
              <a:rPr lang="en-ID" sz="1600" dirty="0">
                <a:latin typeface="Avenir Book" panose="02000503020000020003" pitchFamily="2" charset="0"/>
              </a:rPr>
              <a:t> dan </a:t>
            </a:r>
            <a:r>
              <a:rPr lang="en-ID" sz="1600" dirty="0" err="1">
                <a:latin typeface="Avenir Book" panose="02000503020000020003" pitchFamily="2" charset="0"/>
              </a:rPr>
              <a:t>mingguan</a:t>
            </a:r>
            <a:endParaRPr lang="en-ID" sz="16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2. </a:t>
            </a:r>
            <a:r>
              <a:rPr lang="en-ID" sz="1600" dirty="0" err="1">
                <a:latin typeface="Avenir Book" panose="02000503020000020003" pitchFamily="2" charset="0"/>
              </a:rPr>
              <a:t>Mengidentifikasi</a:t>
            </a:r>
            <a:r>
              <a:rPr lang="en-ID" sz="1600" dirty="0">
                <a:latin typeface="Avenir Book" panose="02000503020000020003" pitchFamily="2" charset="0"/>
              </a:rPr>
              <a:t> jam-jam </a:t>
            </a:r>
            <a:r>
              <a:rPr lang="en-ID" sz="1600" dirty="0" err="1">
                <a:latin typeface="Avenir Book" panose="02000503020000020003" pitchFamily="2" charset="0"/>
              </a:rPr>
              <a:t>sibuk</a:t>
            </a:r>
            <a:r>
              <a:rPr lang="en-ID" sz="1600" dirty="0">
                <a:latin typeface="Avenir Book" panose="02000503020000020003" pitchFamily="2" charset="0"/>
              </a:rPr>
              <a:t> (peak hours)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3. </a:t>
            </a:r>
            <a:r>
              <a:rPr lang="en-ID" sz="1600" dirty="0" err="1">
                <a:latin typeface="Avenir Book" panose="02000503020000020003" pitchFamily="2" charset="0"/>
              </a:rPr>
              <a:t>Mendeteksi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anomali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dalam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operasional</a:t>
            </a:r>
            <a:endParaRPr lang="en-ID" sz="16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4. </a:t>
            </a:r>
            <a:r>
              <a:rPr lang="en-ID" sz="1600" dirty="0" err="1">
                <a:latin typeface="Avenir Book" panose="02000503020000020003" pitchFamily="2" charset="0"/>
              </a:rPr>
              <a:t>Mengoptimalkan</a:t>
            </a:r>
            <a:r>
              <a:rPr lang="en-ID" sz="1600" dirty="0">
                <a:latin typeface="Avenir Book" panose="02000503020000020003" pitchFamily="2" charset="0"/>
              </a:rPr>
              <a:t> strategi pricing dan fleet management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5. </a:t>
            </a:r>
            <a:r>
              <a:rPr lang="en-ID" sz="1600" dirty="0" err="1">
                <a:latin typeface="Avenir Book" panose="02000503020000020003" pitchFamily="2" charset="0"/>
              </a:rPr>
              <a:t>Meningkatkan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efisiensi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operasional</a:t>
            </a:r>
            <a:endParaRPr lang="en-ID" sz="1600" dirty="0">
              <a:latin typeface="Avenir Book" panose="0200050302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13A6A0-DA24-13A2-BA2B-D4B9B8726AC2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5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87F4-582B-00B7-CC6B-E9DE7F4A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32583A-6799-150B-59A1-F1758E4FB772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2. Source Data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C2432463-46E7-58E8-7533-D1A3E1CE5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F335AC-E500-7D85-A700-E9A0459B6B37}"/>
              </a:ext>
            </a:extLst>
          </p:cNvPr>
          <p:cNvSpPr txBox="1"/>
          <p:nvPr/>
        </p:nvSpPr>
        <p:spPr>
          <a:xfrm>
            <a:off x="398621" y="6153218"/>
            <a:ext cx="6545843" cy="34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200" dirty="0" err="1">
                <a:latin typeface="Avenir Book" panose="02000503020000020003" pitchFamily="2" charset="0"/>
              </a:rPr>
              <a:t>Sumber</a:t>
            </a:r>
            <a:r>
              <a:rPr lang="en-ID" sz="1200" dirty="0">
                <a:latin typeface="Avenir Book" panose="02000503020000020003" pitchFamily="2" charset="0"/>
              </a:rPr>
              <a:t> data : https://</a:t>
            </a:r>
            <a:r>
              <a:rPr lang="en-ID" sz="1200" dirty="0" err="1">
                <a:latin typeface="Avenir Book" panose="02000503020000020003" pitchFamily="2" charset="0"/>
              </a:rPr>
              <a:t>www.nyc.gov</a:t>
            </a:r>
            <a:r>
              <a:rPr lang="en-ID" sz="1200" dirty="0">
                <a:latin typeface="Avenir Book" panose="02000503020000020003" pitchFamily="2" charset="0"/>
              </a:rPr>
              <a:t>/site/</a:t>
            </a:r>
            <a:r>
              <a:rPr lang="en-ID" sz="1200" dirty="0" err="1">
                <a:latin typeface="Avenir Book" panose="02000503020000020003" pitchFamily="2" charset="0"/>
              </a:rPr>
              <a:t>tlc</a:t>
            </a:r>
            <a:r>
              <a:rPr lang="en-ID" sz="1200" dirty="0">
                <a:latin typeface="Avenir Book" panose="02000503020000020003" pitchFamily="2" charset="0"/>
              </a:rPr>
              <a:t>/about/</a:t>
            </a:r>
            <a:r>
              <a:rPr lang="en-ID" sz="1200" dirty="0" err="1">
                <a:latin typeface="Avenir Book" panose="02000503020000020003" pitchFamily="2" charset="0"/>
              </a:rPr>
              <a:t>tlc</a:t>
            </a:r>
            <a:r>
              <a:rPr lang="en-ID" sz="1200" dirty="0">
                <a:latin typeface="Avenir Book" panose="02000503020000020003" pitchFamily="2" charset="0"/>
              </a:rPr>
              <a:t>-trip-record-</a:t>
            </a:r>
            <a:r>
              <a:rPr lang="en-ID" sz="1200" dirty="0" err="1">
                <a:latin typeface="Avenir Book" panose="02000503020000020003" pitchFamily="2" charset="0"/>
              </a:rPr>
              <a:t>data.page</a:t>
            </a:r>
            <a:endParaRPr lang="en-ID" sz="1200" dirty="0">
              <a:latin typeface="Avenir Book" panose="02000503020000020003" pitchFamily="2" charset="0"/>
            </a:endParaRPr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A21E1CF6-3774-5516-E6A7-B2EEAE287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565" y="4194094"/>
            <a:ext cx="5370974" cy="14726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5FFA36-7334-D963-18E0-542E4658E85F}"/>
              </a:ext>
            </a:extLst>
          </p:cNvPr>
          <p:cNvSpPr txBox="1"/>
          <p:nvPr/>
        </p:nvSpPr>
        <p:spPr>
          <a:xfrm>
            <a:off x="1029518" y="4523373"/>
            <a:ext cx="46393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400" dirty="0">
                <a:latin typeface="Avenir Book" panose="02000503020000020003" pitchFamily="2" charset="0"/>
              </a:rPr>
              <a:t>Dataset </a:t>
            </a:r>
            <a:r>
              <a:rPr lang="en-ID" sz="1400" dirty="0" err="1">
                <a:latin typeface="Avenir Book" panose="02000503020000020003" pitchFamily="2" charset="0"/>
              </a:rPr>
              <a:t>ini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berisi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catatan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perjalanan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tingkat</a:t>
            </a:r>
            <a:r>
              <a:rPr lang="en-ID" sz="1400" dirty="0">
                <a:latin typeface="Avenir Book" panose="02000503020000020003" pitchFamily="2" charset="0"/>
              </a:rPr>
              <a:t> trip </a:t>
            </a:r>
            <a:r>
              <a:rPr lang="en-ID" sz="1400" dirty="0" err="1">
                <a:latin typeface="Avenir Book" panose="02000503020000020003" pitchFamily="2" charset="0"/>
              </a:rPr>
              <a:t>untuk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b="1" dirty="0">
                <a:latin typeface="Avenir Book" panose="02000503020000020003" pitchFamily="2" charset="0"/>
              </a:rPr>
              <a:t>Yellow &amp;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b="1" dirty="0">
                <a:latin typeface="Avenir Book" panose="02000503020000020003" pitchFamily="2" charset="0"/>
              </a:rPr>
              <a:t>Green </a:t>
            </a:r>
            <a:r>
              <a:rPr lang="en-ID" sz="1400" dirty="0">
                <a:latin typeface="Avenir Book" panose="02000503020000020003" pitchFamily="2" charset="0"/>
              </a:rPr>
              <a:t>Taxi</a:t>
            </a:r>
            <a:r>
              <a:rPr lang="en-ID" sz="1400" b="1" dirty="0">
                <a:latin typeface="Avenir Book" panose="02000503020000020003" pitchFamily="2" charset="0"/>
              </a:rPr>
              <a:t>.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Bidang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datanya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mencakup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waktu</a:t>
            </a:r>
            <a:r>
              <a:rPr lang="en-ID" sz="1400" dirty="0">
                <a:latin typeface="Avenir Book" panose="02000503020000020003" pitchFamily="2" charset="0"/>
              </a:rPr>
              <a:t> dan </a:t>
            </a:r>
            <a:r>
              <a:rPr lang="en-ID" sz="1400" dirty="0" err="1">
                <a:latin typeface="Avenir Book" panose="02000503020000020003" pitchFamily="2" charset="0"/>
              </a:rPr>
              <a:t>lokasi</a:t>
            </a:r>
            <a:r>
              <a:rPr lang="en-ID" sz="1400" dirty="0">
                <a:latin typeface="Avenir Book" panose="02000503020000020003" pitchFamily="2" charset="0"/>
              </a:rPr>
              <a:t> pickup/drop‑off, </a:t>
            </a:r>
            <a:r>
              <a:rPr lang="en-ID" sz="1400" dirty="0" err="1">
                <a:latin typeface="Avenir Book" panose="02000503020000020003" pitchFamily="2" charset="0"/>
              </a:rPr>
              <a:t>jarak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perjalanan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rincian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tarif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tipe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tarif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metode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pembayaran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serta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jumlah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penumpang</a:t>
            </a:r>
            <a:r>
              <a:rPr lang="en-ID" sz="1400" dirty="0">
                <a:latin typeface="Avenir Book" panose="02000503020000020003" pitchFamily="2" charset="0"/>
              </a:rPr>
              <a:t> yang </a:t>
            </a:r>
            <a:r>
              <a:rPr lang="en-ID" sz="1400" dirty="0" err="1">
                <a:latin typeface="Avenir Book" panose="02000503020000020003" pitchFamily="2" charset="0"/>
              </a:rPr>
              <a:t>dilaporkan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pengemudi</a:t>
            </a:r>
            <a:r>
              <a:rPr lang="en-ID" sz="1400" dirty="0">
                <a:latin typeface="Avenir Book" panose="02000503020000020003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3C3087-4CF2-F519-AC64-4D89BD26E970}"/>
              </a:ext>
            </a:extLst>
          </p:cNvPr>
          <p:cNvSpPr txBox="1"/>
          <p:nvPr/>
        </p:nvSpPr>
        <p:spPr>
          <a:xfrm>
            <a:off x="1029518" y="2124088"/>
            <a:ext cx="4914081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D" sz="2400" dirty="0">
                <a:latin typeface="Avenir Book" panose="02000503020000020003" pitchFamily="2" charset="0"/>
              </a:rPr>
              <a:t>Data raw yang </a:t>
            </a:r>
            <a:r>
              <a:rPr lang="en-ID" sz="2400" dirty="0" err="1">
                <a:latin typeface="Avenir Book" panose="02000503020000020003" pitchFamily="2" charset="0"/>
              </a:rPr>
              <a:t>digunakan</a:t>
            </a:r>
            <a:r>
              <a:rPr lang="en-ID" sz="2400" dirty="0">
                <a:latin typeface="Avenir Book" panose="02000503020000020003" pitchFamily="2" charset="0"/>
              </a:rPr>
              <a:t> </a:t>
            </a:r>
            <a:r>
              <a:rPr lang="en-ID" sz="2400" dirty="0" err="1">
                <a:latin typeface="Avenir Book" panose="02000503020000020003" pitchFamily="2" charset="0"/>
              </a:rPr>
              <a:t>adalah</a:t>
            </a:r>
            <a:r>
              <a:rPr lang="en-ID" sz="2400" dirty="0">
                <a:latin typeface="Avenir Book" panose="02000503020000020003" pitchFamily="2" charset="0"/>
              </a:rPr>
              <a:t> data </a:t>
            </a:r>
            <a:r>
              <a:rPr lang="en-ID" sz="2400" dirty="0" err="1">
                <a:latin typeface="Avenir Book" panose="02000503020000020003" pitchFamily="2" charset="0"/>
              </a:rPr>
              <a:t>perjalanan</a:t>
            </a:r>
            <a:r>
              <a:rPr lang="en-ID" sz="2400" dirty="0">
                <a:latin typeface="Avenir Book" panose="02000503020000020003" pitchFamily="2" charset="0"/>
              </a:rPr>
              <a:t> </a:t>
            </a:r>
            <a:r>
              <a:rPr lang="en-ID" sz="2400" dirty="0" err="1">
                <a:latin typeface="Avenir Book" panose="02000503020000020003" pitchFamily="2" charset="0"/>
              </a:rPr>
              <a:t>taksi</a:t>
            </a:r>
            <a:r>
              <a:rPr lang="en-ID" sz="2400" dirty="0">
                <a:latin typeface="Avenir Book" panose="02000503020000020003" pitchFamily="2" charset="0"/>
              </a:rPr>
              <a:t> Yellow dan Green Taxi NYC </a:t>
            </a:r>
            <a:r>
              <a:rPr lang="en-ID" sz="2400" dirty="0" err="1">
                <a:latin typeface="Avenir Book" panose="02000503020000020003" pitchFamily="2" charset="0"/>
              </a:rPr>
              <a:t>bulan</a:t>
            </a:r>
            <a:r>
              <a:rPr lang="en-ID" sz="2400" dirty="0">
                <a:latin typeface="Avenir Book" panose="02000503020000020003" pitchFamily="2" charset="0"/>
              </a:rPr>
              <a:t> September, </a:t>
            </a:r>
            <a:r>
              <a:rPr lang="en-ID" sz="2400" dirty="0" err="1">
                <a:latin typeface="Avenir Book" panose="02000503020000020003" pitchFamily="2" charset="0"/>
              </a:rPr>
              <a:t>lengkap</a:t>
            </a:r>
            <a:r>
              <a:rPr lang="en-ID" sz="2400" dirty="0">
                <a:latin typeface="Avenir Book" panose="02000503020000020003" pitchFamily="2" charset="0"/>
              </a:rPr>
              <a:t> </a:t>
            </a:r>
            <a:r>
              <a:rPr lang="en-ID" sz="2400" dirty="0" err="1">
                <a:latin typeface="Avenir Book" panose="02000503020000020003" pitchFamily="2" charset="0"/>
              </a:rPr>
              <a:t>dengan</a:t>
            </a:r>
            <a:r>
              <a:rPr lang="en-ID" sz="2400" dirty="0">
                <a:latin typeface="Avenir Book" panose="02000503020000020003" pitchFamily="2" charset="0"/>
              </a:rPr>
              <a:t> detail, </a:t>
            </a:r>
            <a:r>
              <a:rPr lang="en-ID" sz="2400" dirty="0" err="1">
                <a:latin typeface="Avenir Book" panose="02000503020000020003" pitchFamily="2" charset="0"/>
              </a:rPr>
              <a:t>dalam</a:t>
            </a:r>
            <a:r>
              <a:rPr lang="en-ID" sz="2400" dirty="0">
                <a:latin typeface="Avenir Book" panose="02000503020000020003" pitchFamily="2" charset="0"/>
              </a:rPr>
              <a:t> Parquet.</a:t>
            </a:r>
          </a:p>
        </p:txBody>
      </p:sp>
      <p:sp>
        <p:nvSpPr>
          <p:cNvPr id="17" name="AutoShape 2" descr="Taxi &amp; Limousine Commission logo">
            <a:extLst>
              <a:ext uri="{FF2B5EF4-FFF2-40B4-BE49-F238E27FC236}">
                <a16:creationId xmlns:a16="http://schemas.microsoft.com/office/drawing/2014/main" id="{E60846EA-9BEA-D415-E6F9-587A2E9ACB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4" descr="Taxi &amp; Limousine Commission logo">
            <a:extLst>
              <a:ext uri="{FF2B5EF4-FFF2-40B4-BE49-F238E27FC236}">
                <a16:creationId xmlns:a16="http://schemas.microsoft.com/office/drawing/2014/main" id="{76B3A3D2-9F2A-9E03-EB63-0C7BBB6FC0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1137745"/>
            <a:ext cx="2596055" cy="259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A256EBE-7D6D-FBD7-CF09-DE78C4EE5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1224" y="1820300"/>
            <a:ext cx="5741657" cy="24114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4A3160D-D9F5-BA92-FF60-034CFA13B82C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1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8EC0-1A63-7648-1107-F94FB341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B7E773-B067-031A-BF30-6FF19C58C29C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2. Data Review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2374DB23-38A0-BC82-16F2-69DC5EFB5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0DCAB8-1A96-1D13-B5A3-44E462ADDB10}"/>
              </a:ext>
            </a:extLst>
          </p:cNvPr>
          <p:cNvSpPr txBox="1"/>
          <p:nvPr/>
        </p:nvSpPr>
        <p:spPr>
          <a:xfrm>
            <a:off x="3407454" y="5965124"/>
            <a:ext cx="4970457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dirty="0">
                <a:latin typeface="Avenir Book" panose="02000503020000020003" pitchFamily="2" charset="0"/>
              </a:rPr>
              <a:t>View parquet files with Phyton + </a:t>
            </a:r>
            <a:r>
              <a:rPr lang="en-ID" dirty="0" err="1">
                <a:latin typeface="Avenir Book" panose="02000503020000020003" pitchFamily="2" charset="0"/>
              </a:rPr>
              <a:t>Pyspark</a:t>
            </a:r>
            <a:endParaRPr lang="en-ID" dirty="0">
              <a:latin typeface="Avenir Book" panose="0200050302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8B1C5-C347-5035-0241-815894AAE4AB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C1D032-83C0-9202-134D-28BC77D8A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082" y="1979733"/>
            <a:ext cx="4948885" cy="3793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19011-69DE-E49F-1103-C322EFC77C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6" y="2006395"/>
            <a:ext cx="4965211" cy="3793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939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ABE86-51DB-A1CA-6625-9EC327AB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11860006-6F80-863A-3894-AA46CE633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93B0C3-F18B-6D55-C8F7-00D139E56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50226"/>
              </p:ext>
            </p:extLst>
          </p:nvPr>
        </p:nvGraphicFramePr>
        <p:xfrm>
          <a:off x="669030" y="889366"/>
          <a:ext cx="4876798" cy="507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3312866466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1630058720"/>
                    </a:ext>
                  </a:extLst>
                </a:gridCol>
              </a:tblGrid>
              <a:tr h="2049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Green Taxi Data Types</a:t>
                      </a:r>
                    </a:p>
                  </a:txBody>
                  <a:tcPr marL="63235" marR="63235" marT="31618" marB="31618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53972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VendorID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48132011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lpep_pickup_datetime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timestamp_ntz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91937234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lpep_dropoff_datetime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timestamp_ntz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943030892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store_and_fwd_flag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string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65087786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RatecodeID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bigint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4260974691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PULocationID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980100274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DOLocationID</a:t>
                      </a:r>
                      <a:r>
                        <a:rPr lang="en-US" sz="1100" dirty="0">
                          <a:latin typeface="Avenir Book" panose="02000503020000020003" pitchFamily="2" charset="0"/>
                        </a:rPr>
                        <a:t>:</a:t>
                      </a: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124808798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passenger_count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bigint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501401295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trip_distance</a:t>
                      </a:r>
                      <a:r>
                        <a:rPr lang="en-US" sz="1100" dirty="0">
                          <a:latin typeface="Avenir Book" panose="02000503020000020003" pitchFamily="2" charset="0"/>
                        </a:rPr>
                        <a:t>:</a:t>
                      </a: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839240632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fare_amount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965176191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extra</a:t>
                      </a: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734464443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mta_tax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762268388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tip_amount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436377385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tolls_amount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55755589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ehail_fee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653399043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improvement_surcharge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743918832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total_amount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273734079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trip_type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92916151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congestion_surcharge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858442924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Airport_fee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469002062"/>
                  </a:ext>
                </a:extLst>
              </a:tr>
              <a:tr h="20494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cbd_congestion_fee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61671734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B6A125-00D0-4EEE-E3AD-EB05577EF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388236"/>
              </p:ext>
            </p:extLst>
          </p:nvPr>
        </p:nvGraphicFramePr>
        <p:xfrm>
          <a:off x="5780690" y="889368"/>
          <a:ext cx="4876798" cy="5079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3312866466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1630058720"/>
                    </a:ext>
                  </a:extLst>
                </a:gridCol>
              </a:tblGrid>
              <a:tr h="24187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Yellow Taxi Data Types</a:t>
                      </a:r>
                    </a:p>
                  </a:txBody>
                  <a:tcPr marL="63235" marR="63235" marT="31618" marB="31618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53972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VendorID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48132011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tpep_pickup_datetime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timestamp_ntz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91937234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tpep_dropoff_datetime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timestamp_ntz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943030892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passenger_count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igint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65087786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trip_distance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4260974691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RatecodeID</a:t>
                      </a:r>
                      <a:r>
                        <a:rPr lang="en-US" sz="1100" dirty="0">
                          <a:latin typeface="Avenir Book" panose="02000503020000020003" pitchFamily="2" charset="0"/>
                        </a:rPr>
                        <a:t>:</a:t>
                      </a: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bigint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980100274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store_and_fwd_flag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string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124808798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PULocationID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501401295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DOLocationID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int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839240632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payment_type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bigint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965176191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fare_amount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734464443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extra</a:t>
                      </a: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  <a:endParaRPr lang="en-ID" sz="1100" dirty="0">
                        <a:latin typeface="Avenir Book" panose="02000503020000020003" pitchFamily="2" charset="0"/>
                        <a:ea typeface="Cambria Math" panose="02040503050406030204" pitchFamily="18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762268388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mta_tax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436377385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tip_amount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55755589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tolls_amount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743918832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improvement_surcharge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273734079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total_amount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858442924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congestion_surcharge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469002062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Airport_fee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616717348"/>
                  </a:ext>
                </a:extLst>
              </a:tr>
              <a:tr h="24187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 </a:t>
                      </a:r>
                      <a:r>
                        <a:rPr lang="en-US" sz="1100" dirty="0" err="1">
                          <a:latin typeface="Avenir Book" panose="02000503020000020003" pitchFamily="2" charset="0"/>
                        </a:rPr>
                        <a:t>cbd_congestion_fee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venir Book" panose="02000503020000020003" pitchFamily="2" charset="0"/>
                        </a:rPr>
                        <a:t>double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8970133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5752AC-374C-65CF-BA6F-F420E39161F8}"/>
              </a:ext>
            </a:extLst>
          </p:cNvPr>
          <p:cNvSpPr txBox="1"/>
          <p:nvPr/>
        </p:nvSpPr>
        <p:spPr>
          <a:xfrm>
            <a:off x="669030" y="6059231"/>
            <a:ext cx="2317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Total Rows: 48,893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Total Columns: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3EB70-4CB7-EABC-4E57-6ED81D714333}"/>
              </a:ext>
            </a:extLst>
          </p:cNvPr>
          <p:cNvSpPr txBox="1"/>
          <p:nvPr/>
        </p:nvSpPr>
        <p:spPr>
          <a:xfrm>
            <a:off x="5780690" y="6130167"/>
            <a:ext cx="2317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Total Rows: 4,251,015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Total Columns: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B136D-982E-A21E-CDD3-993B932AA7DE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256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BBB6-4775-D142-6448-280CE44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EF2801-FE2B-5B06-A04F-0DD59287619C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2. Data Analysis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17FC29CF-0B1A-3728-AA66-59683A05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0D7746C-F43E-52EA-8156-C9CDFAD8F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29834"/>
              </p:ext>
            </p:extLst>
          </p:nvPr>
        </p:nvGraphicFramePr>
        <p:xfrm>
          <a:off x="5990305" y="4495800"/>
          <a:ext cx="5728164" cy="168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041">
                  <a:extLst>
                    <a:ext uri="{9D8B030D-6E8A-4147-A177-3AD203B41FA5}">
                      <a16:colId xmlns:a16="http://schemas.microsoft.com/office/drawing/2014/main" val="2691893029"/>
                    </a:ext>
                  </a:extLst>
                </a:gridCol>
                <a:gridCol w="1432041">
                  <a:extLst>
                    <a:ext uri="{9D8B030D-6E8A-4147-A177-3AD203B41FA5}">
                      <a16:colId xmlns:a16="http://schemas.microsoft.com/office/drawing/2014/main" val="423507890"/>
                    </a:ext>
                  </a:extLst>
                </a:gridCol>
                <a:gridCol w="1432041">
                  <a:extLst>
                    <a:ext uri="{9D8B030D-6E8A-4147-A177-3AD203B41FA5}">
                      <a16:colId xmlns:a16="http://schemas.microsoft.com/office/drawing/2014/main" val="4168454055"/>
                    </a:ext>
                  </a:extLst>
                </a:gridCol>
                <a:gridCol w="1432041">
                  <a:extLst>
                    <a:ext uri="{9D8B030D-6E8A-4147-A177-3AD203B41FA5}">
                      <a16:colId xmlns:a16="http://schemas.microsoft.com/office/drawing/2014/main" val="3719387228"/>
                    </a:ext>
                  </a:extLst>
                </a:gridCol>
              </a:tblGrid>
              <a:tr h="421285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Metric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Green Taxi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Yellow Taxi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Ratio</a:t>
                      </a:r>
                    </a:p>
                  </a:txBody>
                  <a:tcPr marL="57777" marR="57777" marT="28889" marB="28889" anchor="ctr"/>
                </a:tc>
                <a:extLst>
                  <a:ext uri="{0D108BD9-81ED-4DB2-BD59-A6C34878D82A}">
                    <a16:rowId xmlns:a16="http://schemas.microsoft.com/office/drawing/2014/main" val="515754069"/>
                  </a:ext>
                </a:extLst>
              </a:tr>
              <a:tr h="42128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File Size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1.2MB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69MB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1:57.5</a:t>
                      </a:r>
                    </a:p>
                  </a:txBody>
                  <a:tcPr marL="57777" marR="57777" marT="28889" marB="28889" anchor="ctr"/>
                </a:tc>
                <a:extLst>
                  <a:ext uri="{0D108BD9-81ED-4DB2-BD59-A6C34878D82A}">
                    <a16:rowId xmlns:a16="http://schemas.microsoft.com/office/drawing/2014/main" val="4121575572"/>
                  </a:ext>
                </a:extLst>
              </a:tr>
              <a:tr h="42128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Estimated Records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~7,000-10,000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~400,000-500.000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1:50</a:t>
                      </a:r>
                    </a:p>
                  </a:txBody>
                  <a:tcPr marL="57777" marR="57777" marT="28889" marB="28889" anchor="ctr"/>
                </a:tc>
                <a:extLst>
                  <a:ext uri="{0D108BD9-81ED-4DB2-BD59-A6C34878D82A}">
                    <a16:rowId xmlns:a16="http://schemas.microsoft.com/office/drawing/2014/main" val="2356855630"/>
                  </a:ext>
                </a:extLst>
              </a:tr>
              <a:tr h="42128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Market Share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~2%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~98%</a:t>
                      </a:r>
                    </a:p>
                  </a:txBody>
                  <a:tcPr marL="57777" marR="57777" marT="28889" marB="28889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venir Book" panose="02000503020000020003" pitchFamily="2" charset="0"/>
                        </a:rPr>
                        <a:t>Yellow dominates</a:t>
                      </a:r>
                    </a:p>
                  </a:txBody>
                  <a:tcPr marL="57777" marR="57777" marT="28889" marB="28889" anchor="ctr"/>
                </a:tc>
                <a:extLst>
                  <a:ext uri="{0D108BD9-81ED-4DB2-BD59-A6C34878D82A}">
                    <a16:rowId xmlns:a16="http://schemas.microsoft.com/office/drawing/2014/main" val="262911648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F322139-0F68-4B08-1DFF-D45B1DECE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62367"/>
              </p:ext>
            </p:extLst>
          </p:nvPr>
        </p:nvGraphicFramePr>
        <p:xfrm>
          <a:off x="511631" y="2013853"/>
          <a:ext cx="5246664" cy="4167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332">
                  <a:extLst>
                    <a:ext uri="{9D8B030D-6E8A-4147-A177-3AD203B41FA5}">
                      <a16:colId xmlns:a16="http://schemas.microsoft.com/office/drawing/2014/main" val="3312866466"/>
                    </a:ext>
                  </a:extLst>
                </a:gridCol>
                <a:gridCol w="2623332">
                  <a:extLst>
                    <a:ext uri="{9D8B030D-6E8A-4147-A177-3AD203B41FA5}">
                      <a16:colId xmlns:a16="http://schemas.microsoft.com/office/drawing/2014/main" val="1630058720"/>
                    </a:ext>
                  </a:extLst>
                </a:gridCol>
              </a:tblGrid>
              <a:tr h="29764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Both Green and Yellow taxis share these core columns:</a:t>
                      </a:r>
                    </a:p>
                  </a:txBody>
                  <a:tcPr marL="63235" marR="63235" marT="31618" marB="31618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53972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VendorID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(int)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1=Creative Mobile, 2=VeriFone Inc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48132011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passenger_count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Number of passengers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91937234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trip_distance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Distance in miles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943030892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fare_amount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Base fare in USD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65087786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extra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Extra charges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4260974691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mta_tax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MTA tax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980100274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tip_amount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Tip amount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124808798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tolls_amount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Tolls paid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501401295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improvement_surcharge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Improvement surcharge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3839240632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total_amount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(double)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Total fare (all inclusive)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965176191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payment_type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(int) 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1=Credit, 2=Cash, etc</a:t>
                      </a: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2762268388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RatecodeID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(int)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Rate code (standard, JFK, etc.)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436377385"/>
                  </a:ext>
                </a:extLst>
              </a:tr>
              <a:tr h="297649">
                <a:tc>
                  <a:txBody>
                    <a:bodyPr/>
                    <a:lstStyle/>
                    <a:p>
                      <a:r>
                        <a:rPr lang="en-ID" sz="1100" dirty="0" err="1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store_and_fwd_flag</a:t>
                      </a:r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 (string)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tc>
                  <a:txBody>
                    <a:bodyPr/>
                    <a:lstStyle/>
                    <a:p>
                      <a:r>
                        <a:rPr lang="en-ID" sz="1100" dirty="0">
                          <a:latin typeface="Avenir Book" panose="02000503020000020003" pitchFamily="2" charset="0"/>
                          <a:ea typeface="Cambria Math" panose="02040503050406030204" pitchFamily="18" charset="0"/>
                        </a:rPr>
                        <a:t>Y/N - was trip stored before sending</a:t>
                      </a:r>
                      <a:endParaRPr lang="en-US" sz="1100" dirty="0">
                        <a:latin typeface="Avenir Book" panose="02000503020000020003" pitchFamily="2" charset="0"/>
                      </a:endParaRPr>
                    </a:p>
                  </a:txBody>
                  <a:tcPr marL="63235" marR="63235" marT="31618" marB="31618" anchor="ctr"/>
                </a:tc>
                <a:extLst>
                  <a:ext uri="{0D108BD9-81ED-4DB2-BD59-A6C34878D82A}">
                    <a16:rowId xmlns:a16="http://schemas.microsoft.com/office/drawing/2014/main" val="125575558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8033EC-9B4A-BE6A-EA2F-B85B9245B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10496"/>
              </p:ext>
            </p:extLst>
          </p:nvPr>
        </p:nvGraphicFramePr>
        <p:xfrm>
          <a:off x="5952203" y="2030618"/>
          <a:ext cx="5766266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133">
                  <a:extLst>
                    <a:ext uri="{9D8B030D-6E8A-4147-A177-3AD203B41FA5}">
                      <a16:colId xmlns:a16="http://schemas.microsoft.com/office/drawing/2014/main" val="2787274964"/>
                    </a:ext>
                  </a:extLst>
                </a:gridCol>
                <a:gridCol w="2883133">
                  <a:extLst>
                    <a:ext uri="{9D8B030D-6E8A-4147-A177-3AD203B41FA5}">
                      <a16:colId xmlns:a16="http://schemas.microsoft.com/office/drawing/2014/main" val="344212564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Green Taxi-Only Columns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86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200" dirty="0" err="1">
                          <a:latin typeface="Avenir Book" panose="02000503020000020003" pitchFamily="2" charset="0"/>
                        </a:rPr>
                        <a:t>ehail_fee</a:t>
                      </a:r>
                      <a:r>
                        <a:rPr lang="en-ID" sz="1200" dirty="0">
                          <a:latin typeface="Avenir Book" panose="02000503020000020003" pitchFamily="2" charset="0"/>
                        </a:rPr>
                        <a:t> (double) 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1200" dirty="0">
                          <a:latin typeface="Avenir Book" panose="02000503020000020003" pitchFamily="2" charset="0"/>
                        </a:rPr>
                        <a:t>Electronic hail fee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62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200" dirty="0" err="1">
                          <a:latin typeface="Avenir Book" panose="02000503020000020003" pitchFamily="2" charset="0"/>
                        </a:rPr>
                        <a:t>trip_type</a:t>
                      </a:r>
                      <a:r>
                        <a:rPr lang="en-ID" sz="1200" dirty="0">
                          <a:latin typeface="Avenir Book" panose="02000503020000020003" pitchFamily="2" charset="0"/>
                        </a:rPr>
                        <a:t> (int) 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1200" dirty="0">
                          <a:latin typeface="Avenir Book" panose="02000503020000020003" pitchFamily="2" charset="0"/>
                        </a:rPr>
                        <a:t>1=Street-hail, 2=</a:t>
                      </a:r>
                      <a:r>
                        <a:rPr lang="en-ID" sz="1200" dirty="0" err="1">
                          <a:latin typeface="Avenir Book" panose="02000503020000020003" pitchFamily="2" charset="0"/>
                        </a:rPr>
                        <a:t>Dispatc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04714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9B66FE3-D8BE-CD14-BEC1-1FDC51A0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264889"/>
              </p:ext>
            </p:extLst>
          </p:nvPr>
        </p:nvGraphicFramePr>
        <p:xfrm>
          <a:off x="5952203" y="3263209"/>
          <a:ext cx="5766266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133">
                  <a:extLst>
                    <a:ext uri="{9D8B030D-6E8A-4147-A177-3AD203B41FA5}">
                      <a16:colId xmlns:a16="http://schemas.microsoft.com/office/drawing/2014/main" val="2787274964"/>
                    </a:ext>
                  </a:extLst>
                </a:gridCol>
                <a:gridCol w="2883133">
                  <a:extLst>
                    <a:ext uri="{9D8B030D-6E8A-4147-A177-3AD203B41FA5}">
                      <a16:colId xmlns:a16="http://schemas.microsoft.com/office/drawing/2014/main" val="344212564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b="1" i="0" dirty="0">
                          <a:solidFill>
                            <a:schemeClr val="tx1"/>
                          </a:solidFill>
                          <a:latin typeface="Avenir Heavy" panose="02000503020000020003" pitchFamily="2" charset="0"/>
                        </a:rPr>
                        <a:t>Yellow Taxi-Only Columns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86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200" dirty="0" err="1">
                          <a:latin typeface="Avenir Book" panose="02000503020000020003" pitchFamily="2" charset="0"/>
                        </a:rPr>
                        <a:t>airport_fee</a:t>
                      </a:r>
                      <a:r>
                        <a:rPr lang="en-ID" sz="1200" dirty="0">
                          <a:latin typeface="Avenir Book" panose="02000503020000020003" pitchFamily="2" charset="0"/>
                        </a:rPr>
                        <a:t> (double) 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1200" dirty="0">
                          <a:latin typeface="Avenir Book" panose="02000503020000020003" pitchFamily="2" charset="0"/>
                        </a:rPr>
                        <a:t>Airport access fee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62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200" dirty="0" err="1">
                          <a:latin typeface="Avenir Book" panose="02000503020000020003" pitchFamily="2" charset="0"/>
                        </a:rPr>
                        <a:t>congestion_surcharge</a:t>
                      </a:r>
                      <a:r>
                        <a:rPr lang="en-ID" sz="1200" dirty="0">
                          <a:latin typeface="Avenir Book" panose="02000503020000020003" pitchFamily="2" charset="0"/>
                        </a:rPr>
                        <a:t> (double) 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1200" dirty="0">
                          <a:latin typeface="Avenir Book" panose="02000503020000020003" pitchFamily="2" charset="0"/>
                        </a:rPr>
                        <a:t>Congestion pricing surcharge</a:t>
                      </a:r>
                      <a:endParaRPr lang="en-US" sz="12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04714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939E863-710C-E964-C7D4-DCB3D9FA2A0D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18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C463-3502-D8AB-CA40-4288DA41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55FA285E-54FA-21CA-64A8-BE87CFF5F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48A19E-28FF-ECB5-4086-5BB93DED7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992" y="816799"/>
            <a:ext cx="4517077" cy="5845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3AB382-53BD-DE03-5582-6D0EEE80B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069" y="816799"/>
            <a:ext cx="4592638" cy="59434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32F0A3-085D-C67E-1596-B356EF9D8F0B}"/>
              </a:ext>
            </a:extLst>
          </p:cNvPr>
          <p:cNvSpPr txBox="1"/>
          <p:nvPr/>
        </p:nvSpPr>
        <p:spPr>
          <a:xfrm>
            <a:off x="398622" y="1098575"/>
            <a:ext cx="2692922" cy="488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latin typeface="Avenir Book" panose="02000503020000020003" pitchFamily="2" charset="0"/>
              </a:rPr>
              <a:t>Data Dictionary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5231B-3FA2-9EE5-2E7B-B43FC21030EE}"/>
              </a:ext>
            </a:extLst>
          </p:cNvPr>
          <p:cNvSpPr txBox="1"/>
          <p:nvPr/>
        </p:nvSpPr>
        <p:spPr>
          <a:xfrm>
            <a:off x="4467651" y="6251597"/>
            <a:ext cx="2115473" cy="26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atin typeface="Avenir Book" panose="02000503020000020003" pitchFamily="2" charset="0"/>
              </a:rPr>
              <a:t>Yellow Taxi Trip Dictionaries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402B7-A82F-0DE9-8BB3-58BF40015FB8}"/>
              </a:ext>
            </a:extLst>
          </p:cNvPr>
          <p:cNvSpPr txBox="1"/>
          <p:nvPr/>
        </p:nvSpPr>
        <p:spPr>
          <a:xfrm>
            <a:off x="8298793" y="6251597"/>
            <a:ext cx="2115473" cy="26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atin typeface="Avenir Book" panose="02000503020000020003" pitchFamily="2" charset="0"/>
              </a:rPr>
              <a:t>Green Taxi Trip Dictionaries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7ABB14-5BCF-2ADA-4FAE-107217EF70C6}"/>
              </a:ext>
            </a:extLst>
          </p:cNvPr>
          <p:cNvSpPr txBox="1"/>
          <p:nvPr/>
        </p:nvSpPr>
        <p:spPr>
          <a:xfrm>
            <a:off x="414285" y="1776248"/>
            <a:ext cx="2890345" cy="2649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NYC Taxi </a:t>
            </a:r>
            <a:r>
              <a:rPr lang="en-ID" sz="1400" dirty="0" err="1">
                <a:latin typeface="Avenir Book" panose="02000503020000020003" pitchFamily="2" charset="0"/>
              </a:rPr>
              <a:t>menyediakan</a:t>
            </a:r>
            <a:r>
              <a:rPr lang="en-ID" sz="1400" dirty="0">
                <a:latin typeface="Avenir Book" panose="02000503020000020003" pitchFamily="2" charset="0"/>
              </a:rPr>
              <a:t>, “data dictionary” </a:t>
            </a:r>
            <a:r>
              <a:rPr lang="en-ID" sz="1400" dirty="0" err="1">
                <a:latin typeface="Avenir Book" panose="02000503020000020003" pitchFamily="2" charset="0"/>
              </a:rPr>
              <a:t>berarti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panduan</a:t>
            </a:r>
            <a:r>
              <a:rPr lang="en-ID" sz="1400" dirty="0">
                <a:latin typeface="Avenir Book" panose="02000503020000020003" pitchFamily="2" charset="0"/>
              </a:rPr>
              <a:t> yang </a:t>
            </a:r>
            <a:r>
              <a:rPr lang="en-ID" sz="1400" dirty="0" err="1">
                <a:latin typeface="Avenir Book" panose="02000503020000020003" pitchFamily="2" charset="0"/>
              </a:rPr>
              <a:t>menjelaskan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setiap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kolom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dalam</a:t>
            </a:r>
            <a:r>
              <a:rPr lang="en-ID" sz="1400" dirty="0">
                <a:latin typeface="Avenir Book" panose="02000503020000020003" pitchFamily="2" charset="0"/>
              </a:rPr>
              <a:t> dataset trip NYC TLC: nama </a:t>
            </a:r>
            <a:r>
              <a:rPr lang="en-ID" sz="1400" dirty="0" err="1">
                <a:latin typeface="Avenir Book" panose="02000503020000020003" pitchFamily="2" charset="0"/>
              </a:rPr>
              <a:t>kolom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tipe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datanya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deskripsi</a:t>
            </a:r>
            <a:r>
              <a:rPr lang="en-ID" sz="1400" dirty="0">
                <a:latin typeface="Avenir Book" panose="02000503020000020003" pitchFamily="2" charset="0"/>
              </a:rPr>
              <a:t>/arti, </a:t>
            </a:r>
            <a:r>
              <a:rPr lang="en-ID" sz="1400" dirty="0" err="1">
                <a:latin typeface="Avenir Book" panose="02000503020000020003" pitchFamily="2" charset="0"/>
              </a:rPr>
              <a:t>satuan</a:t>
            </a:r>
            <a:r>
              <a:rPr lang="en-ID" sz="1400" dirty="0">
                <a:latin typeface="Avenir Book" panose="02000503020000020003" pitchFamily="2" charset="0"/>
              </a:rPr>
              <a:t>, </a:t>
            </a:r>
            <a:r>
              <a:rPr lang="en-ID" sz="1400" dirty="0" err="1">
                <a:latin typeface="Avenir Book" panose="02000503020000020003" pitchFamily="2" charset="0"/>
              </a:rPr>
              <a:t>serta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catatan</a:t>
            </a:r>
            <a:r>
              <a:rPr lang="en-ID" sz="1400" dirty="0">
                <a:latin typeface="Avenir Book" panose="02000503020000020003" pitchFamily="2" charset="0"/>
              </a:rPr>
              <a:t> </a:t>
            </a:r>
            <a:r>
              <a:rPr lang="en-ID" sz="1400" dirty="0" err="1">
                <a:latin typeface="Avenir Book" panose="02000503020000020003" pitchFamily="2" charset="0"/>
              </a:rPr>
              <a:t>khusus</a:t>
            </a:r>
            <a:r>
              <a:rPr lang="en-ID" sz="1400" dirty="0">
                <a:latin typeface="Avenir Book" panose="02000503020000020003" pitchFamily="2" charset="0"/>
              </a:rPr>
              <a:t> per dataset (</a:t>
            </a:r>
            <a:r>
              <a:rPr lang="en-ID" sz="1400" b="1" dirty="0">
                <a:latin typeface="Avenir Book" panose="02000503020000020003" pitchFamily="2" charset="0"/>
              </a:rPr>
              <a:t>Yellow &amp; Green Taxi)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430E7-C818-22B1-FF29-6BFC30279977}"/>
              </a:ext>
            </a:extLst>
          </p:cNvPr>
          <p:cNvSpPr txBox="1"/>
          <p:nvPr/>
        </p:nvSpPr>
        <p:spPr>
          <a:xfrm>
            <a:off x="495173" y="5247729"/>
            <a:ext cx="2890345" cy="111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900" dirty="0" err="1">
                <a:latin typeface="Avenir Book" panose="02000503020000020003" pitchFamily="2" charset="0"/>
              </a:rPr>
              <a:t>Sumber</a:t>
            </a:r>
            <a:r>
              <a:rPr lang="en-ID" sz="900" dirty="0">
                <a:latin typeface="Avenir Book" panose="02000503020000020003" pitchFamily="2" charset="0"/>
              </a:rPr>
              <a:t> 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Avenir Book" panose="02000503020000020003" pitchFamily="2" charset="0"/>
              </a:rPr>
              <a:t>https://www.nyc.gov/assets/tlc/downloads/pdf/data_dictionary_trip_records_yellow.pdf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latin typeface="Avenir Book" panose="02000503020000020003" pitchFamily="2" charset="0"/>
              </a:rPr>
              <a:t>https://</a:t>
            </a:r>
            <a:r>
              <a:rPr lang="en-US" sz="900" dirty="0" err="1">
                <a:latin typeface="Avenir Book" panose="02000503020000020003" pitchFamily="2" charset="0"/>
              </a:rPr>
              <a:t>www.nyc.gov</a:t>
            </a:r>
            <a:r>
              <a:rPr lang="en-US" sz="900" dirty="0">
                <a:latin typeface="Avenir Book" panose="02000503020000020003" pitchFamily="2" charset="0"/>
              </a:rPr>
              <a:t>/assets/</a:t>
            </a:r>
            <a:r>
              <a:rPr lang="en-US" sz="900" dirty="0" err="1">
                <a:latin typeface="Avenir Book" panose="02000503020000020003" pitchFamily="2" charset="0"/>
              </a:rPr>
              <a:t>tlc</a:t>
            </a:r>
            <a:r>
              <a:rPr lang="en-US" sz="900" dirty="0">
                <a:latin typeface="Avenir Book" panose="02000503020000020003" pitchFamily="2" charset="0"/>
              </a:rPr>
              <a:t>/downloads/pdf/</a:t>
            </a:r>
            <a:r>
              <a:rPr lang="en-US" sz="900" dirty="0" err="1">
                <a:latin typeface="Avenir Book" panose="02000503020000020003" pitchFamily="2" charset="0"/>
              </a:rPr>
              <a:t>data_dictionary_trip_records_green.pdf</a:t>
            </a:r>
            <a:endParaRPr lang="en-US" sz="900" dirty="0">
              <a:latin typeface="Avenir Book" panose="02000503020000020003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8D2B4-1AF3-539A-AE03-26DD70E8B20A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1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AEB2-19E6-6D47-755C-9345F440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A59B6D-F87A-C3EB-C372-48D63604A643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3. </a:t>
            </a:r>
            <a:r>
              <a:rPr lang="en-US" sz="4400" b="1" dirty="0" err="1">
                <a:latin typeface="Avenir Book" panose="02000503020000020003" pitchFamily="2" charset="0"/>
              </a:rPr>
              <a:t>Rumusan</a:t>
            </a:r>
            <a:r>
              <a:rPr lang="en-US" sz="4400" b="1" dirty="0">
                <a:latin typeface="Avenir Book" panose="02000503020000020003" pitchFamily="2" charset="0"/>
              </a:rPr>
              <a:t> </a:t>
            </a:r>
            <a:r>
              <a:rPr lang="en-US" sz="4400" b="1" dirty="0" err="1">
                <a:latin typeface="Avenir Book" panose="02000503020000020003" pitchFamily="2" charset="0"/>
              </a:rPr>
              <a:t>Masalah</a:t>
            </a:r>
            <a:endParaRPr lang="en-US" sz="4400" b="1" dirty="0">
              <a:latin typeface="Avenir Book" panose="02000503020000020003" pitchFamily="2" charset="0"/>
            </a:endParaRP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C9B92367-1520-D067-2A8C-5B60460BC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63171-CF71-C8E4-5465-E26CA2292DCD}"/>
              </a:ext>
            </a:extLst>
          </p:cNvPr>
          <p:cNvSpPr txBox="1"/>
          <p:nvPr/>
        </p:nvSpPr>
        <p:spPr>
          <a:xfrm>
            <a:off x="1125543" y="2063102"/>
            <a:ext cx="8784667" cy="1168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dirty="0" err="1">
                <a:latin typeface="Avenir Book" panose="02000503020000020003" pitchFamily="2" charset="0"/>
              </a:rPr>
              <a:t>Namun</a:t>
            </a:r>
            <a:r>
              <a:rPr lang="en-ID" sz="1600" dirty="0">
                <a:latin typeface="Avenir Book" panose="02000503020000020003" pitchFamily="2" charset="0"/>
              </a:rPr>
              <a:t>, data </a:t>
            </a:r>
            <a:r>
              <a:rPr lang="en-ID" sz="1600" dirty="0" err="1">
                <a:latin typeface="Avenir Book" panose="02000503020000020003" pitchFamily="2" charset="0"/>
              </a:rPr>
              <a:t>mentah</a:t>
            </a:r>
            <a:r>
              <a:rPr lang="en-ID" sz="1600" dirty="0">
                <a:latin typeface="Avenir Book" panose="02000503020000020003" pitchFamily="2" charset="0"/>
              </a:rPr>
              <a:t> yang </a:t>
            </a:r>
            <a:r>
              <a:rPr lang="en-ID" sz="1600" dirty="0" err="1">
                <a:latin typeface="Avenir Book" panose="02000503020000020003" pitchFamily="2" charset="0"/>
              </a:rPr>
              <a:t>dipublikasikan</a:t>
            </a:r>
            <a:r>
              <a:rPr lang="en-ID" sz="1600" dirty="0">
                <a:latin typeface="Avenir Book" panose="02000503020000020003" pitchFamily="2" charset="0"/>
              </a:rPr>
              <a:t> oleh NYC TLC </a:t>
            </a:r>
            <a:r>
              <a:rPr lang="en-ID" sz="1600" dirty="0" err="1">
                <a:latin typeface="Avenir Book" panose="02000503020000020003" pitchFamily="2" charset="0"/>
              </a:rPr>
              <a:t>memiliki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beberapa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tantangan</a:t>
            </a:r>
            <a:r>
              <a:rPr lang="en-ID" sz="1600" dirty="0">
                <a:latin typeface="Avenir Book" panose="02000503020000020003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br>
              <a:rPr lang="en-ID" sz="1600" dirty="0">
                <a:latin typeface="Avenir Book" panose="02000503020000020003" pitchFamily="2" charset="0"/>
              </a:rPr>
            </a:br>
            <a:endParaRPr lang="en-ID" sz="1600" dirty="0">
              <a:latin typeface="Avenir Book" panose="0200050302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62400-B96A-1414-7E93-EDF79673E941}"/>
              </a:ext>
            </a:extLst>
          </p:cNvPr>
          <p:cNvSpPr txBox="1"/>
          <p:nvPr/>
        </p:nvSpPr>
        <p:spPr>
          <a:xfrm>
            <a:off x="1125543" y="2676462"/>
            <a:ext cx="458938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1. Volume Data Besar: 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Data </a:t>
            </a:r>
            <a:r>
              <a:rPr lang="en-ID" sz="1600" dirty="0" err="1">
                <a:latin typeface="Avenir Book" panose="02000503020000020003" pitchFamily="2" charset="0"/>
              </a:rPr>
              <a:t>dalam</a:t>
            </a:r>
            <a:r>
              <a:rPr lang="en-ID" sz="1600" dirty="0">
                <a:latin typeface="Avenir Book" panose="02000503020000020003" pitchFamily="2" charset="0"/>
              </a:rPr>
              <a:t> format Parquet </a:t>
            </a:r>
            <a:r>
              <a:rPr lang="en-ID" sz="1600" dirty="0" err="1">
                <a:latin typeface="Avenir Book" panose="02000503020000020003" pitchFamily="2" charset="0"/>
              </a:rPr>
              <a:t>dengan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ukuran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puluhan</a:t>
            </a:r>
            <a:r>
              <a:rPr lang="en-ID" sz="1600" dirty="0">
                <a:latin typeface="Avenir Book" panose="02000503020000020003" pitchFamily="2" charset="0"/>
              </a:rPr>
              <a:t> MB per </a:t>
            </a:r>
            <a:r>
              <a:rPr lang="en-ID" sz="1600" dirty="0" err="1">
                <a:latin typeface="Avenir Book" panose="02000503020000020003" pitchFamily="2" charset="0"/>
              </a:rPr>
              <a:t>bulan</a:t>
            </a:r>
            <a:endParaRPr lang="en-ID" sz="16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2. Dua Jenis </a:t>
            </a:r>
            <a:r>
              <a:rPr lang="en-ID" sz="1600" b="1" dirty="0" err="1">
                <a:latin typeface="Avenir Heavy" panose="02000503020000020003" pitchFamily="2" charset="0"/>
              </a:rPr>
              <a:t>Taksi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Berbeda</a:t>
            </a:r>
            <a:r>
              <a:rPr lang="en-ID" sz="1600" b="1" dirty="0">
                <a:latin typeface="Avenir Heavy" panose="02000503020000020003" pitchFamily="2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Green Taxi dan Yellow Taxi </a:t>
            </a:r>
            <a:r>
              <a:rPr lang="en-ID" sz="1600" dirty="0" err="1">
                <a:latin typeface="Avenir Book" panose="02000503020000020003" pitchFamily="2" charset="0"/>
              </a:rPr>
              <a:t>memiliki</a:t>
            </a:r>
            <a:r>
              <a:rPr lang="en-ID" sz="1600" dirty="0">
                <a:latin typeface="Avenir Book" panose="02000503020000020003" pitchFamily="2" charset="0"/>
              </a:rPr>
              <a:t> schema yang </a:t>
            </a:r>
            <a:r>
              <a:rPr lang="en-ID" sz="1600" dirty="0" err="1">
                <a:latin typeface="Avenir Book" panose="02000503020000020003" pitchFamily="2" charset="0"/>
              </a:rPr>
              <a:t>sedikit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berbeda</a:t>
            </a:r>
            <a:endParaRPr lang="en-ID" sz="16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3. </a:t>
            </a:r>
            <a:r>
              <a:rPr lang="en-ID" sz="1600" b="1" dirty="0" err="1">
                <a:latin typeface="Avenir Heavy" panose="02000503020000020003" pitchFamily="2" charset="0"/>
              </a:rPr>
              <a:t>Kebutuhan</a:t>
            </a:r>
            <a:r>
              <a:rPr lang="en-ID" sz="1600" b="1" dirty="0">
                <a:latin typeface="Avenir Heavy" panose="02000503020000020003" pitchFamily="2" charset="0"/>
              </a:rPr>
              <a:t> Processing Harian: </a:t>
            </a:r>
          </a:p>
          <a:p>
            <a:pPr>
              <a:lnSpc>
                <a:spcPct val="150000"/>
              </a:lnSpc>
            </a:pPr>
            <a:r>
              <a:rPr lang="en-ID" sz="1600" dirty="0">
                <a:latin typeface="Avenir Book" panose="02000503020000020003" pitchFamily="2" charset="0"/>
              </a:rPr>
              <a:t>Data </a:t>
            </a:r>
            <a:r>
              <a:rPr lang="en-ID" sz="1600" dirty="0" err="1">
                <a:latin typeface="Avenir Book" panose="02000503020000020003" pitchFamily="2" charset="0"/>
              </a:rPr>
              <a:t>perlu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diproses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secara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kontinyu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setiap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hari</a:t>
            </a:r>
            <a:endParaRPr lang="en-ID" sz="1600" dirty="0">
              <a:latin typeface="Avenir Book" panose="02000503020000020003" pitchFamily="2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C57F5-9AC6-3A60-5BBC-80AA53C23238}"/>
              </a:ext>
            </a:extLst>
          </p:cNvPr>
          <p:cNvSpPr txBox="1"/>
          <p:nvPr/>
        </p:nvSpPr>
        <p:spPr>
          <a:xfrm>
            <a:off x="5939521" y="2676462"/>
            <a:ext cx="5428599" cy="3384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4. </a:t>
            </a:r>
            <a:r>
              <a:rPr lang="en-ID" sz="1600" b="1" dirty="0" err="1">
                <a:latin typeface="Avenir Heavy" panose="02000503020000020003" pitchFamily="2" charset="0"/>
              </a:rPr>
              <a:t>Kompleksitas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Analisis</a:t>
            </a:r>
            <a:r>
              <a:rPr lang="en-ID" sz="1600" b="1" dirty="0">
                <a:latin typeface="Avenir Heavy" panose="02000503020000020003" pitchFamily="2" charset="0"/>
              </a:rPr>
              <a:t>: </a:t>
            </a:r>
            <a:br>
              <a:rPr lang="en-ID" sz="1600" dirty="0">
                <a:latin typeface="Avenir Book" panose="02000503020000020003" pitchFamily="2" charset="0"/>
              </a:rPr>
            </a:br>
            <a:r>
              <a:rPr lang="en-ID" sz="1600" dirty="0" err="1">
                <a:latin typeface="Avenir Book" panose="02000503020000020003" pitchFamily="2" charset="0"/>
              </a:rPr>
              <a:t>Memerlukan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aggregasi</a:t>
            </a:r>
            <a:r>
              <a:rPr lang="en-ID" sz="1600" dirty="0">
                <a:latin typeface="Avenir Book" panose="02000503020000020003" pitchFamily="2" charset="0"/>
              </a:rPr>
              <a:t> multi-</a:t>
            </a:r>
            <a:r>
              <a:rPr lang="en-ID" sz="1600" dirty="0" err="1">
                <a:latin typeface="Avenir Book" panose="02000503020000020003" pitchFamily="2" charset="0"/>
              </a:rPr>
              <a:t>dimensi</a:t>
            </a:r>
            <a:r>
              <a:rPr lang="en-ID" sz="1600" dirty="0">
                <a:latin typeface="Avenir Book" panose="02000503020000020003" pitchFamily="2" charset="0"/>
              </a:rPr>
              <a:t> (</a:t>
            </a:r>
            <a:r>
              <a:rPr lang="en-ID" sz="1600" dirty="0" err="1">
                <a:latin typeface="Avenir Book" panose="02000503020000020003" pitchFamily="2" charset="0"/>
              </a:rPr>
              <a:t>waktu</a:t>
            </a:r>
            <a:r>
              <a:rPr lang="en-ID" sz="1600" dirty="0">
                <a:latin typeface="Avenir Book" panose="02000503020000020003" pitchFamily="2" charset="0"/>
              </a:rPr>
              <a:t>, </a:t>
            </a:r>
            <a:r>
              <a:rPr lang="en-ID" sz="1600" dirty="0" err="1">
                <a:latin typeface="Avenir Book" panose="02000503020000020003" pitchFamily="2" charset="0"/>
              </a:rPr>
              <a:t>tipe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taksi</a:t>
            </a:r>
            <a:r>
              <a:rPr lang="en-ID" sz="1600" dirty="0">
                <a:latin typeface="Avenir Book" panose="02000503020000020003" pitchFamily="2" charset="0"/>
              </a:rPr>
              <a:t>, </a:t>
            </a:r>
            <a:r>
              <a:rPr lang="en-ID" sz="1600" dirty="0" err="1">
                <a:latin typeface="Avenir Book" panose="02000503020000020003" pitchFamily="2" charset="0"/>
              </a:rPr>
              <a:t>metrik</a:t>
            </a:r>
            <a:r>
              <a:rPr lang="en-ID" sz="1600" dirty="0">
                <a:latin typeface="Avenir Book" panose="02000503020000020003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5. </a:t>
            </a:r>
            <a:r>
              <a:rPr lang="en-ID" sz="1600" b="1" dirty="0" err="1">
                <a:latin typeface="Avenir Heavy" panose="02000503020000020003" pitchFamily="2" charset="0"/>
              </a:rPr>
              <a:t>Distribusi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Laporan</a:t>
            </a:r>
            <a:r>
              <a:rPr lang="en-ID" sz="1600" b="1" dirty="0">
                <a:latin typeface="Avenir Heavy" panose="02000503020000020003" pitchFamily="2" charset="0"/>
              </a:rPr>
              <a:t>: </a:t>
            </a:r>
            <a:br>
              <a:rPr lang="en-ID" sz="1600" dirty="0">
                <a:latin typeface="Avenir Book" panose="02000503020000020003" pitchFamily="2" charset="0"/>
              </a:rPr>
            </a:br>
            <a:r>
              <a:rPr lang="en-ID" sz="1600" dirty="0">
                <a:latin typeface="Avenir Book" panose="02000503020000020003" pitchFamily="2" charset="0"/>
              </a:rPr>
              <a:t>Stakeholder </a:t>
            </a:r>
            <a:r>
              <a:rPr lang="en-ID" sz="1600" dirty="0" err="1">
                <a:latin typeface="Avenir Book" panose="02000503020000020003" pitchFamily="2" charset="0"/>
              </a:rPr>
              <a:t>membutuhkan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laporan</a:t>
            </a:r>
            <a:r>
              <a:rPr lang="en-ID" sz="1600" dirty="0">
                <a:latin typeface="Avenir Book" panose="02000503020000020003" pitchFamily="2" charset="0"/>
              </a:rPr>
              <a:t> rutin yang </a:t>
            </a:r>
            <a:r>
              <a:rPr lang="en-ID" sz="1600" dirty="0" err="1">
                <a:latin typeface="Avenir Book" panose="02000503020000020003" pitchFamily="2" charset="0"/>
              </a:rPr>
              <a:t>mudah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diakses</a:t>
            </a:r>
            <a:endParaRPr lang="en-ID" sz="16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600" b="1" dirty="0">
                <a:latin typeface="Avenir Heavy" panose="02000503020000020003" pitchFamily="2" charset="0"/>
              </a:rPr>
              <a:t>6. </a:t>
            </a:r>
            <a:r>
              <a:rPr lang="en-ID" sz="1600" b="1" dirty="0" err="1">
                <a:latin typeface="Avenir Heavy" panose="02000503020000020003" pitchFamily="2" charset="0"/>
              </a:rPr>
              <a:t>Deteksi</a:t>
            </a:r>
            <a:r>
              <a:rPr lang="en-ID" sz="1600" b="1" dirty="0">
                <a:latin typeface="Avenir Heavy" panose="02000503020000020003" pitchFamily="2" charset="0"/>
              </a:rPr>
              <a:t> </a:t>
            </a:r>
            <a:r>
              <a:rPr lang="en-ID" sz="1600" b="1" dirty="0" err="1">
                <a:latin typeface="Avenir Heavy" panose="02000503020000020003" pitchFamily="2" charset="0"/>
              </a:rPr>
              <a:t>Anomali</a:t>
            </a:r>
            <a:r>
              <a:rPr lang="en-ID" sz="1600" b="1" dirty="0">
                <a:latin typeface="Avenir Heavy" panose="02000503020000020003" pitchFamily="2" charset="0"/>
              </a:rPr>
              <a:t>: </a:t>
            </a:r>
            <a:br>
              <a:rPr lang="en-ID" sz="1600" dirty="0">
                <a:latin typeface="Avenir Book" panose="02000503020000020003" pitchFamily="2" charset="0"/>
              </a:rPr>
            </a:br>
            <a:r>
              <a:rPr lang="en-ID" sz="1600" dirty="0" err="1">
                <a:latin typeface="Avenir Book" panose="02000503020000020003" pitchFamily="2" charset="0"/>
              </a:rPr>
              <a:t>Perlu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sistem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untuk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mendeteksi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pola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tidak</a:t>
            </a:r>
            <a:r>
              <a:rPr lang="en-ID" sz="1600" dirty="0">
                <a:latin typeface="Avenir Book" panose="02000503020000020003" pitchFamily="2" charset="0"/>
              </a:rPr>
              <a:t> normal </a:t>
            </a:r>
            <a:r>
              <a:rPr lang="en-ID" sz="1600" dirty="0" err="1">
                <a:latin typeface="Avenir Book" panose="02000503020000020003" pitchFamily="2" charset="0"/>
              </a:rPr>
              <a:t>dalam</a:t>
            </a:r>
            <a:r>
              <a:rPr lang="en-ID" sz="1600" dirty="0">
                <a:latin typeface="Avenir Book" panose="02000503020000020003" pitchFamily="2" charset="0"/>
              </a:rPr>
              <a:t> </a:t>
            </a:r>
            <a:r>
              <a:rPr lang="en-ID" sz="1600" dirty="0" err="1">
                <a:latin typeface="Avenir Book" panose="02000503020000020003" pitchFamily="2" charset="0"/>
              </a:rPr>
              <a:t>operasional</a:t>
            </a:r>
            <a:endParaRPr lang="en-ID" sz="1600" dirty="0">
              <a:latin typeface="Avenir Book" panose="02000503020000020003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01D61-7658-1F97-B75D-41EA3745E20F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62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4274-EE58-A836-2505-A36DAEF9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E1CB34-D135-C6B2-1983-F329A3590EE8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4. Solusi yang </a:t>
            </a:r>
            <a:r>
              <a:rPr lang="en-US" sz="4400" b="1" dirty="0" err="1">
                <a:latin typeface="Avenir Book" panose="02000503020000020003" pitchFamily="2" charset="0"/>
              </a:rPr>
              <a:t>diusulkan</a:t>
            </a:r>
            <a:endParaRPr lang="en-US" sz="4400" b="1" dirty="0">
              <a:latin typeface="Avenir Book" panose="02000503020000020003" pitchFamily="2" charset="0"/>
            </a:endParaRP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C06DE47A-996B-CC43-B5C8-EB8E1413D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7BB2E7-288C-9864-F6CC-4F2E23C19E30}"/>
              </a:ext>
            </a:extLst>
          </p:cNvPr>
          <p:cNvSpPr txBox="1"/>
          <p:nvPr/>
        </p:nvSpPr>
        <p:spPr>
          <a:xfrm>
            <a:off x="981871" y="1937513"/>
            <a:ext cx="10422729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>
                <a:latin typeface="Avenir Book" panose="02000503020000020003" pitchFamily="2" charset="0"/>
              </a:rPr>
              <a:t>Dari </a:t>
            </a:r>
            <a:r>
              <a:rPr lang="en-ID" dirty="0" err="1">
                <a:latin typeface="Avenir Book" panose="02000503020000020003" pitchFamily="2" charset="0"/>
              </a:rPr>
              <a:t>temuan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masalah</a:t>
            </a:r>
            <a:r>
              <a:rPr lang="en-ID" dirty="0">
                <a:latin typeface="Avenir Book" panose="02000503020000020003" pitchFamily="2" charset="0"/>
              </a:rPr>
              <a:t> yang </a:t>
            </a:r>
            <a:r>
              <a:rPr lang="en-ID" dirty="0" err="1">
                <a:latin typeface="Avenir Book" panose="02000503020000020003" pitchFamily="2" charset="0"/>
              </a:rPr>
              <a:t>ada</a:t>
            </a:r>
            <a:r>
              <a:rPr lang="en-ID" dirty="0">
                <a:latin typeface="Avenir Book" panose="02000503020000020003" pitchFamily="2" charset="0"/>
              </a:rPr>
              <a:t>, oleh </a:t>
            </a:r>
            <a:r>
              <a:rPr lang="en-ID" dirty="0" err="1">
                <a:latin typeface="Avenir Book" panose="02000503020000020003" pitchFamily="2" charset="0"/>
              </a:rPr>
              <a:t>karna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itu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saya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mengembangkan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b="1" dirty="0">
                <a:latin typeface="Avenir Heavy" panose="02000503020000020003" pitchFamily="2" charset="0"/>
              </a:rPr>
              <a:t>automated data pipeline </a:t>
            </a:r>
            <a:r>
              <a:rPr lang="en-ID" dirty="0">
                <a:latin typeface="Avenir Book" panose="02000503020000020003" pitchFamily="2" charset="0"/>
              </a:rPr>
              <a:t>yang </a:t>
            </a:r>
            <a:r>
              <a:rPr lang="en-ID" dirty="0" err="1">
                <a:latin typeface="Avenir Book" panose="02000503020000020003" pitchFamily="2" charset="0"/>
              </a:rPr>
              <a:t>dapat</a:t>
            </a:r>
            <a:r>
              <a:rPr lang="en-ID" dirty="0">
                <a:latin typeface="Avenir Book" panose="02000503020000020003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ID" dirty="0">
              <a:latin typeface="Avenir Book" panose="02000503020000020003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Mengekstrak</a:t>
            </a:r>
            <a:r>
              <a:rPr lang="en-ID" dirty="0">
                <a:latin typeface="Avenir Book" panose="02000503020000020003" pitchFamily="2" charset="0"/>
              </a:rPr>
              <a:t> dan </a:t>
            </a:r>
            <a:r>
              <a:rPr lang="en-ID" dirty="0" err="1">
                <a:latin typeface="Avenir Book" panose="02000503020000020003" pitchFamily="2" charset="0"/>
              </a:rPr>
              <a:t>memproses</a:t>
            </a:r>
            <a:r>
              <a:rPr lang="en-ID" dirty="0">
                <a:latin typeface="Avenir Book" panose="02000503020000020003" pitchFamily="2" charset="0"/>
              </a:rPr>
              <a:t> data </a:t>
            </a:r>
            <a:r>
              <a:rPr lang="en-ID" dirty="0" err="1">
                <a:latin typeface="Avenir Book" panose="02000503020000020003" pitchFamily="2" charset="0"/>
              </a:rPr>
              <a:t>harian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secara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otomatis</a:t>
            </a:r>
            <a:endParaRPr lang="en-ID" dirty="0">
              <a:latin typeface="Avenir Book" panose="02000503020000020003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Menyimpan</a:t>
            </a:r>
            <a:r>
              <a:rPr lang="en-ID" dirty="0">
                <a:latin typeface="Avenir Book" panose="02000503020000020003" pitchFamily="2" charset="0"/>
              </a:rPr>
              <a:t> data </a:t>
            </a:r>
            <a:r>
              <a:rPr lang="en-ID" dirty="0" err="1">
                <a:latin typeface="Avenir Book" panose="02000503020000020003" pitchFamily="2" charset="0"/>
              </a:rPr>
              <a:t>dalam</a:t>
            </a:r>
            <a:r>
              <a:rPr lang="en-ID" dirty="0">
                <a:latin typeface="Avenir Book" panose="02000503020000020003" pitchFamily="2" charset="0"/>
              </a:rPr>
              <a:t> database relational (PostgreSQL) </a:t>
            </a:r>
            <a:r>
              <a:rPr lang="en-ID" dirty="0" err="1">
                <a:latin typeface="Avenir Book" panose="02000503020000020003" pitchFamily="2" charset="0"/>
              </a:rPr>
              <a:t>untuk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analisis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lanjutan</a:t>
            </a:r>
            <a:endParaRPr lang="en-ID" dirty="0">
              <a:latin typeface="Avenir Book" panose="02000503020000020003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Menghasilkan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aggregasi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mingguan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dengan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berbagai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metrik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operasional</a:t>
            </a:r>
            <a:endParaRPr lang="en-ID" dirty="0">
              <a:latin typeface="Avenir Book" panose="02000503020000020003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Mendeteksi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anomali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menggunakan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metode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statistik</a:t>
            </a:r>
            <a:endParaRPr lang="en-ID" dirty="0">
              <a:latin typeface="Avenir Book" panose="02000503020000020003" pitchFamily="2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Mendistribusikan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laporan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otomatis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melalui</a:t>
            </a:r>
            <a:r>
              <a:rPr lang="en-ID" dirty="0">
                <a:latin typeface="Avenir Book" panose="02000503020000020003" pitchFamily="2" charset="0"/>
              </a:rPr>
              <a:t> Discord dan Email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D" dirty="0" err="1">
                <a:latin typeface="Avenir Book" panose="02000503020000020003" pitchFamily="2" charset="0"/>
              </a:rPr>
              <a:t>Berjalan</a:t>
            </a:r>
            <a:r>
              <a:rPr lang="en-ID" dirty="0">
                <a:latin typeface="Avenir Book" panose="02000503020000020003" pitchFamily="2" charset="0"/>
              </a:rPr>
              <a:t> 24/7 </a:t>
            </a:r>
            <a:r>
              <a:rPr lang="en-ID" dirty="0" err="1">
                <a:latin typeface="Avenir Book" panose="02000503020000020003" pitchFamily="2" charset="0"/>
              </a:rPr>
              <a:t>menggunakan</a:t>
            </a:r>
            <a:r>
              <a:rPr lang="en-ID" dirty="0">
                <a:latin typeface="Avenir Book" panose="02000503020000020003" pitchFamily="2" charset="0"/>
              </a:rPr>
              <a:t> </a:t>
            </a:r>
            <a:r>
              <a:rPr lang="en-ID" dirty="0" err="1">
                <a:latin typeface="Avenir Book" panose="02000503020000020003" pitchFamily="2" charset="0"/>
              </a:rPr>
              <a:t>systemd</a:t>
            </a:r>
            <a:r>
              <a:rPr lang="en-ID" dirty="0">
                <a:latin typeface="Avenir Book" panose="02000503020000020003" pitchFamily="2" charset="0"/>
              </a:rPr>
              <a:t> automation</a:t>
            </a:r>
          </a:p>
          <a:p>
            <a:pPr>
              <a:lnSpc>
                <a:spcPct val="150000"/>
              </a:lnSpc>
            </a:pPr>
            <a:br>
              <a:rPr lang="en-ID" dirty="0">
                <a:latin typeface="Avenir Book" panose="02000503020000020003" pitchFamily="2" charset="0"/>
              </a:rPr>
            </a:br>
            <a:endParaRPr lang="en-ID" dirty="0">
              <a:latin typeface="Avenir Book" panose="0200050302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98E9E-84F8-DFCB-BA7B-40DC7471BEF8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0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5FED-D2D3-9CC5-905A-DA853272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B48029-BB70-FE28-DFE5-5394A3A7047F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5. Objectives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2E5C339C-817B-73C5-8404-5A9556FF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02250C-A9C1-D6B1-5995-597EAEED6E1C}"/>
              </a:ext>
            </a:extLst>
          </p:cNvPr>
          <p:cNvSpPr txBox="1"/>
          <p:nvPr/>
        </p:nvSpPr>
        <p:spPr>
          <a:xfrm>
            <a:off x="1080617" y="1925105"/>
            <a:ext cx="3663700" cy="4588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Data Outputs</a:t>
            </a:r>
            <a:r>
              <a:rPr lang="en-ID" sz="1400" dirty="0">
                <a:latin typeface="Avenir Book" panose="02000503020000020003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Daily Parquet files (7 files per week)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Weekly Update PostgreSQL tables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CSV aggregations (5 types per week)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Comprehensive logs</a:t>
            </a:r>
            <a:br>
              <a:rPr lang="en-ID" sz="1400" dirty="0">
                <a:latin typeface="Avenir Book" panose="02000503020000020003" pitchFamily="2" charset="0"/>
              </a:rPr>
            </a:b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Operational Systems</a:t>
            </a:r>
            <a:r>
              <a:rPr lang="en-ID" sz="1400" dirty="0">
                <a:latin typeface="Avenir Book" panose="02000503020000020003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</a:t>
            </a:r>
            <a:r>
              <a:rPr lang="en-ID" sz="1400" dirty="0" err="1">
                <a:latin typeface="Avenir Book" panose="02000503020000020003" pitchFamily="2" charset="0"/>
              </a:rPr>
              <a:t>Systemd</a:t>
            </a:r>
            <a:r>
              <a:rPr lang="en-ID" sz="1400" dirty="0">
                <a:latin typeface="Avenir Book" panose="02000503020000020003" pitchFamily="2" charset="0"/>
              </a:rPr>
              <a:t> timers (2 services)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PostgreSQL database (Docker)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Weekly Report with Discord integration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Weekly Report with Email automation &amp; CSV Attachment 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58A1E-5C8F-B4B3-E85A-5C3B8110934A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50408-E1ED-1798-07F5-7BE72F9B7443}"/>
              </a:ext>
            </a:extLst>
          </p:cNvPr>
          <p:cNvSpPr txBox="1"/>
          <p:nvPr/>
        </p:nvSpPr>
        <p:spPr>
          <a:xfrm>
            <a:off x="5077047" y="1925105"/>
            <a:ext cx="6034336" cy="2326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Data Extraction, Transform &amp; Load:</a:t>
            </a:r>
            <a:br>
              <a:rPr lang="en-ID" sz="1400" b="1" dirty="0">
                <a:latin typeface="Avenir Book" panose="02000503020000020003" pitchFamily="2" charset="0"/>
              </a:rPr>
            </a:br>
            <a:r>
              <a:rPr lang="en-ID" sz="1400" dirty="0">
                <a:latin typeface="Avenir Book" panose="02000503020000020003" pitchFamily="2" charset="0"/>
              </a:rPr>
              <a:t>Optimize for both archival and analytical use cases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Single file per day: `</a:t>
            </a:r>
            <a:r>
              <a:rPr lang="en-ID" sz="1400" dirty="0" err="1">
                <a:latin typeface="Avenir Book" panose="02000503020000020003" pitchFamily="2" charset="0"/>
              </a:rPr>
              <a:t>taxi_data_YYYY</a:t>
            </a:r>
            <a:r>
              <a:rPr lang="en-ID" sz="1400" dirty="0">
                <a:latin typeface="Avenir Book" panose="02000503020000020003" pitchFamily="2" charset="0"/>
              </a:rPr>
              <a:t>-MM-</a:t>
            </a:r>
            <a:r>
              <a:rPr lang="en-ID" sz="1400" dirty="0" err="1">
                <a:latin typeface="Avenir Book" panose="02000503020000020003" pitchFamily="2" charset="0"/>
              </a:rPr>
              <a:t>DD.parquet</a:t>
            </a:r>
            <a:r>
              <a:rPr lang="en-ID" sz="1400" dirty="0">
                <a:latin typeface="Avenir Book" panose="02000503020000020003" pitchFamily="2" charset="0"/>
              </a:rPr>
              <a:t>`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Organized directory structure: `data/processed/daily/`</a:t>
            </a:r>
            <a:br>
              <a:rPr lang="en-ID" sz="1400" dirty="0">
                <a:latin typeface="Avenir Book" panose="02000503020000020003" pitchFamily="2" charset="0"/>
              </a:rPr>
            </a:br>
            <a:r>
              <a:rPr lang="en-ID" sz="1400" dirty="0">
                <a:latin typeface="Avenir Book" panose="02000503020000020003" pitchFamily="2" charset="0"/>
              </a:rPr>
              <a:t>✅ Week-based naming: `</a:t>
            </a:r>
            <a:r>
              <a:rPr lang="en-ID" sz="1400" dirty="0" err="1">
                <a:latin typeface="Avenir Book" panose="02000503020000020003" pitchFamily="2" charset="0"/>
              </a:rPr>
              <a:t>week_N_month_year</a:t>
            </a:r>
            <a:r>
              <a:rPr lang="en-ID" sz="1400" dirty="0">
                <a:latin typeface="Avenir Book" panose="02000503020000020003" pitchFamily="2" charset="0"/>
              </a:rPr>
              <a:t>`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Send transformed RAW Data send to Postgres Database by Week</a:t>
            </a:r>
          </a:p>
          <a:p>
            <a:pPr>
              <a:lnSpc>
                <a:spcPct val="150000"/>
              </a:lnSpc>
            </a:pP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E750D-58C4-ACE9-7295-C593038614BA}"/>
              </a:ext>
            </a:extLst>
          </p:cNvPr>
          <p:cNvSpPr txBox="1"/>
          <p:nvPr/>
        </p:nvSpPr>
        <p:spPr>
          <a:xfrm>
            <a:off x="5077047" y="3949518"/>
            <a:ext cx="6547394" cy="2003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Transformed Data Requirement:</a:t>
            </a:r>
            <a:br>
              <a:rPr lang="en-ID" sz="1400" b="1" dirty="0">
                <a:latin typeface="Avenir Book" panose="02000503020000020003" pitchFamily="2" charset="0"/>
              </a:rPr>
            </a:br>
            <a:r>
              <a:rPr lang="en-ID" sz="1400" dirty="0">
                <a:latin typeface="Avenir Book" panose="02000503020000020003" pitchFamily="2" charset="0"/>
              </a:rPr>
              <a:t>✅ Normalize Green Taxi columns (`</a:t>
            </a:r>
            <a:r>
              <a:rPr lang="en-ID" sz="1400" dirty="0" err="1">
                <a:latin typeface="Avenir Book" panose="02000503020000020003" pitchFamily="2" charset="0"/>
              </a:rPr>
              <a:t>lpep_pickup_datetime</a:t>
            </a:r>
            <a:r>
              <a:rPr lang="en-ID" sz="1400" dirty="0">
                <a:latin typeface="Avenir Book" panose="02000503020000020003" pitchFamily="2" charset="0"/>
              </a:rPr>
              <a:t>` → `</a:t>
            </a:r>
            <a:r>
              <a:rPr lang="en-ID" sz="1400" dirty="0" err="1">
                <a:latin typeface="Avenir Book" panose="02000503020000020003" pitchFamily="2" charset="0"/>
              </a:rPr>
              <a:t>pickup_datetime</a:t>
            </a:r>
            <a:r>
              <a:rPr lang="en-ID" sz="1400" dirty="0">
                <a:latin typeface="Avenir Book" panose="02000503020000020003" pitchFamily="2" charset="0"/>
              </a:rPr>
              <a:t>`)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Normalize Yellow Taxi columns (`</a:t>
            </a:r>
            <a:r>
              <a:rPr lang="en-ID" sz="1400" dirty="0" err="1">
                <a:latin typeface="Avenir Book" panose="02000503020000020003" pitchFamily="2" charset="0"/>
              </a:rPr>
              <a:t>tpep_pickup_datetime</a:t>
            </a:r>
            <a:r>
              <a:rPr lang="en-ID" sz="1400" dirty="0">
                <a:latin typeface="Avenir Book" panose="02000503020000020003" pitchFamily="2" charset="0"/>
              </a:rPr>
              <a:t>` → `</a:t>
            </a:r>
            <a:r>
              <a:rPr lang="en-ID" sz="1400" dirty="0" err="1">
                <a:latin typeface="Avenir Book" panose="02000503020000020003" pitchFamily="2" charset="0"/>
              </a:rPr>
              <a:t>pickup_datetime</a:t>
            </a:r>
            <a:r>
              <a:rPr lang="en-ID" sz="1400" dirty="0">
                <a:latin typeface="Avenir Book" panose="02000503020000020003" pitchFamily="2" charset="0"/>
              </a:rPr>
              <a:t>`)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Add `</a:t>
            </a:r>
            <a:r>
              <a:rPr lang="en-ID" sz="1400" dirty="0" err="1">
                <a:latin typeface="Avenir Book" panose="02000503020000020003" pitchFamily="2" charset="0"/>
              </a:rPr>
              <a:t>taxi_type</a:t>
            </a:r>
            <a:r>
              <a:rPr lang="en-ID" sz="1400" dirty="0">
                <a:latin typeface="Avenir Book" panose="02000503020000020003" pitchFamily="2" charset="0"/>
              </a:rPr>
              <a:t>` identifier column (green/yellow)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Preserve all original data while enabling unified analysis</a:t>
            </a:r>
          </a:p>
          <a:p>
            <a:pPr>
              <a:lnSpc>
                <a:spcPct val="150000"/>
              </a:lnSpc>
            </a:pPr>
            <a:endParaRPr lang="en-ID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436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8B9C-3434-FE93-D412-D5140ECD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E09FBA-BD5E-A9D1-EF75-7A7FC38F402C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5. Objectives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EB18EAAB-2EFF-C9EE-6A35-FD42C8DBA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2D0A3-2A73-7507-51A5-EBDBCA5A54F7}"/>
              </a:ext>
            </a:extLst>
          </p:cNvPr>
          <p:cNvSpPr txBox="1"/>
          <p:nvPr/>
        </p:nvSpPr>
        <p:spPr>
          <a:xfrm>
            <a:off x="1047245" y="2556208"/>
            <a:ext cx="3781345" cy="3942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1. Trips Per Day Analysis</a:t>
            </a: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Daily trip counts by taxi type (green/yellow)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Week-over-week comparison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Market share calculation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r>
              <a:rPr lang="en-ID" sz="1400" b="1" dirty="0">
                <a:latin typeface="Avenir Book" panose="02000503020000020003" pitchFamily="2" charset="0"/>
              </a:rPr>
              <a:t>2. Revenue Per Day Analysis</a:t>
            </a: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Total daily revenue by taxi type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Average fare per trip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Revenue trends and patterns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508ED-F118-394E-3B78-00832FF44696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A1154-E6B5-F490-A41F-1592CB7EC512}"/>
              </a:ext>
            </a:extLst>
          </p:cNvPr>
          <p:cNvSpPr txBox="1"/>
          <p:nvPr/>
        </p:nvSpPr>
        <p:spPr>
          <a:xfrm>
            <a:off x="4656083" y="2269308"/>
            <a:ext cx="3436332" cy="4588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3. Peak Hours Analysis</a:t>
            </a: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24-hour trip distribution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Identify busiest hours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Optimize fleet allocation insights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r>
              <a:rPr lang="en-ID" sz="1400" b="1" dirty="0">
                <a:latin typeface="Avenir Book" panose="02000503020000020003" pitchFamily="2" charset="0"/>
              </a:rPr>
              <a:t>4. Daily Average Metrics</a:t>
            </a: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Average trip distance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Average fare amount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Average passenger count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Average trip duration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Segmented by taxi type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E3BDD-177D-9D4F-99CC-6AD9D9797917}"/>
              </a:ext>
            </a:extLst>
          </p:cNvPr>
          <p:cNvSpPr txBox="1"/>
          <p:nvPr/>
        </p:nvSpPr>
        <p:spPr>
          <a:xfrm>
            <a:off x="8092415" y="2278892"/>
            <a:ext cx="3216164" cy="2972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b="1" dirty="0">
                <a:latin typeface="Avenir Book" panose="02000503020000020003" pitchFamily="2" charset="0"/>
              </a:rPr>
              <a:t>5. Trips Per Day Analysis</a:t>
            </a:r>
            <a:endParaRPr lang="en-ID" sz="14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Statistical outlier identification (±2</a:t>
            </a:r>
            <a:r>
              <a:rPr lang="el-GR" sz="1400" dirty="0">
                <a:latin typeface="Avenir Book" panose="02000503020000020003" pitchFamily="2" charset="0"/>
              </a:rPr>
              <a:t>σ)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Revenue drop detection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Passenger count spike detection</a:t>
            </a:r>
          </a:p>
          <a:p>
            <a:pPr>
              <a:lnSpc>
                <a:spcPct val="150000"/>
              </a:lnSpc>
            </a:pPr>
            <a:r>
              <a:rPr lang="en-ID" sz="1400" dirty="0">
                <a:latin typeface="Avenir Book" panose="02000503020000020003" pitchFamily="2" charset="0"/>
              </a:rPr>
              <a:t>✅ Trip distance anomaly flagging</a:t>
            </a:r>
          </a:p>
          <a:p>
            <a:pPr>
              <a:lnSpc>
                <a:spcPct val="150000"/>
              </a:lnSpc>
            </a:pPr>
            <a:br>
              <a:rPr lang="en-ID" sz="1400" dirty="0">
                <a:latin typeface="Avenir Book" panose="02000503020000020003" pitchFamily="2" charset="0"/>
              </a:rPr>
            </a:br>
            <a:endParaRPr lang="en-ID" sz="1400" dirty="0">
              <a:latin typeface="Avenir Book" panose="020005030200000200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5C553-209D-A738-BE34-15F7A4AF534B}"/>
              </a:ext>
            </a:extLst>
          </p:cNvPr>
          <p:cNvSpPr txBox="1"/>
          <p:nvPr/>
        </p:nvSpPr>
        <p:spPr>
          <a:xfrm>
            <a:off x="1047244" y="1878596"/>
            <a:ext cx="7844508" cy="97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latin typeface="Avenir Book" panose="02000503020000020003" pitchFamily="2" charset="0"/>
              </a:rPr>
              <a:t>5 Types Output Data Analysis &amp; Aggregation (Export to CSV)</a:t>
            </a:r>
          </a:p>
          <a:p>
            <a:pPr>
              <a:lnSpc>
                <a:spcPct val="150000"/>
              </a:lnSpc>
            </a:pPr>
            <a:endParaRPr lang="en-ID" sz="20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30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B3C5-5E20-4C20-0FCA-E370089A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9A1938-5CD5-FAF5-6A99-9A51E7C5E56A}"/>
              </a:ext>
            </a:extLst>
          </p:cNvPr>
          <p:cNvSpPr txBox="1"/>
          <p:nvPr/>
        </p:nvSpPr>
        <p:spPr>
          <a:xfrm>
            <a:off x="398621" y="1098575"/>
            <a:ext cx="6989315" cy="715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atin typeface="Avenir Book" panose="02000503020000020003" pitchFamily="2" charset="0"/>
              </a:rPr>
              <a:t>6. Diagram Project &amp; Alur</a:t>
            </a:r>
          </a:p>
        </p:txBody>
      </p:sp>
      <p:pic>
        <p:nvPicPr>
          <p:cNvPr id="4" name="Picture 39" descr="Portfolio | Living Lab">
            <a:extLst>
              <a:ext uri="{FF2B5EF4-FFF2-40B4-BE49-F238E27FC236}">
                <a16:creationId xmlns:a16="http://schemas.microsoft.com/office/drawing/2014/main" id="{39221EA8-BE30-0686-17F1-67E81D0F2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15" y="359431"/>
            <a:ext cx="1765130" cy="27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75F541-6C2F-8778-4634-74CA191C74FC}"/>
              </a:ext>
            </a:extLst>
          </p:cNvPr>
          <p:cNvSpPr txBox="1"/>
          <p:nvPr/>
        </p:nvSpPr>
        <p:spPr>
          <a:xfrm>
            <a:off x="2270034" y="347951"/>
            <a:ext cx="273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venir Book" panose="02000503020000020003" pitchFamily="2" charset="0"/>
              </a:rPr>
              <a:t>Data Engineering – </a:t>
            </a:r>
            <a:r>
              <a:rPr lang="en-ID" sz="1400" b="1" dirty="0">
                <a:latin typeface="Avenir Book" panose="02000503020000020003" pitchFamily="2" charset="0"/>
              </a:rPr>
              <a:t>JCDEAH-07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39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9AB4F9-D5C0-80E6-75F9-1F27D9AF7580}"/>
              </a:ext>
            </a:extLst>
          </p:cNvPr>
          <p:cNvSpPr txBox="1"/>
          <p:nvPr/>
        </p:nvSpPr>
        <p:spPr>
          <a:xfrm>
            <a:off x="317500" y="1774825"/>
            <a:ext cx="3208338" cy="1311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latin typeface="+mj-lt"/>
              </a:rPr>
              <a:t>ESG Initiatives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02F4B8-250F-8291-77D3-877D4EB8E794}"/>
              </a:ext>
            </a:extLst>
          </p:cNvPr>
          <p:cNvCxnSpPr>
            <a:cxnSpLocks/>
          </p:cNvCxnSpPr>
          <p:nvPr/>
        </p:nvCxnSpPr>
        <p:spPr>
          <a:xfrm>
            <a:off x="5715000" y="1774825"/>
            <a:ext cx="6057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EC78D-77FB-CB35-2E31-40083D1BFE19}"/>
              </a:ext>
            </a:extLst>
          </p:cNvPr>
          <p:cNvCxnSpPr>
            <a:cxnSpLocks/>
          </p:cNvCxnSpPr>
          <p:nvPr/>
        </p:nvCxnSpPr>
        <p:spPr>
          <a:xfrm>
            <a:off x="5715000" y="3346450"/>
            <a:ext cx="6057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88CB9A-EC43-6D4D-E61C-9D565D26FC8F}"/>
              </a:ext>
            </a:extLst>
          </p:cNvPr>
          <p:cNvCxnSpPr>
            <a:cxnSpLocks/>
          </p:cNvCxnSpPr>
          <p:nvPr/>
        </p:nvCxnSpPr>
        <p:spPr>
          <a:xfrm>
            <a:off x="5715000" y="4075113"/>
            <a:ext cx="6057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2271DF4-6F41-E40E-EBDB-48E0DBB5B3CC}"/>
              </a:ext>
            </a:extLst>
          </p:cNvPr>
          <p:cNvSpPr txBox="1"/>
          <p:nvPr/>
        </p:nvSpPr>
        <p:spPr>
          <a:xfrm>
            <a:off x="5622925" y="2139950"/>
            <a:ext cx="2817813" cy="787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Launched Internal Green Code Program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D35B34-3A90-7608-1102-37318E1C2F08}"/>
              </a:ext>
            </a:extLst>
          </p:cNvPr>
          <p:cNvSpPr txBox="1"/>
          <p:nvPr/>
        </p:nvSpPr>
        <p:spPr>
          <a:xfrm>
            <a:off x="5622925" y="3482975"/>
            <a:ext cx="4075113" cy="4175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Carbon Footprint Reduced By 22%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22FDDA-3B61-D6CF-70FD-6E27BB4D82FA}"/>
              </a:ext>
            </a:extLst>
          </p:cNvPr>
          <p:cNvCxnSpPr>
            <a:cxnSpLocks/>
          </p:cNvCxnSpPr>
          <p:nvPr/>
        </p:nvCxnSpPr>
        <p:spPr>
          <a:xfrm>
            <a:off x="5715000" y="4848225"/>
            <a:ext cx="6057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090193F-6D37-8ABA-16D0-BE5E044CAF78}"/>
              </a:ext>
            </a:extLst>
          </p:cNvPr>
          <p:cNvSpPr txBox="1"/>
          <p:nvPr/>
        </p:nvSpPr>
        <p:spPr>
          <a:xfrm>
            <a:off x="5622925" y="4249738"/>
            <a:ext cx="4810125" cy="4175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</a:rPr>
              <a:t>Partnered With 5 </a:t>
            </a:r>
            <a:r>
              <a:rPr lang="en-US" sz="1600" dirty="0" err="1">
                <a:latin typeface="+mn-lt"/>
              </a:rPr>
              <a:t>Ngos</a:t>
            </a:r>
            <a:r>
              <a:rPr lang="en-US" sz="1600" dirty="0">
                <a:latin typeface="+mn-lt"/>
              </a:rPr>
              <a:t> For Tech Education</a:t>
            </a:r>
            <a:endParaRPr lang="en-US" sz="1600" dirty="0">
              <a:latin typeface="+mj-l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EE8556-3E0A-E89A-147F-69B1FB4CE701}"/>
              </a:ext>
            </a:extLst>
          </p:cNvPr>
          <p:cNvCxnSpPr>
            <a:cxnSpLocks/>
          </p:cNvCxnSpPr>
          <p:nvPr/>
        </p:nvCxnSpPr>
        <p:spPr>
          <a:xfrm>
            <a:off x="5715000" y="5621338"/>
            <a:ext cx="6057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798480-A10D-D080-F7F8-54677BCAAE57}"/>
              </a:ext>
            </a:extLst>
          </p:cNvPr>
          <p:cNvSpPr txBox="1"/>
          <p:nvPr/>
        </p:nvSpPr>
        <p:spPr>
          <a:xfrm>
            <a:off x="5622925" y="5021263"/>
            <a:ext cx="4975225" cy="419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+mj-lt"/>
              </a:rPr>
              <a:t>Published First </a:t>
            </a:r>
            <a:r>
              <a:rPr lang="en-US" sz="1600" dirty="0" err="1">
                <a:latin typeface="+mj-lt"/>
              </a:rPr>
              <a:t>Esg</a:t>
            </a:r>
            <a:r>
              <a:rPr lang="en-US" sz="1600" dirty="0">
                <a:latin typeface="+mj-lt"/>
              </a:rPr>
              <a:t> Report</a:t>
            </a:r>
          </a:p>
        </p:txBody>
      </p:sp>
      <p:sp>
        <p:nvSpPr>
          <p:cNvPr id="21516" name="TextBox 32">
            <a:extLst>
              <a:ext uri="{FF2B5EF4-FFF2-40B4-BE49-F238E27FC236}">
                <a16:creationId xmlns:a16="http://schemas.microsoft.com/office/drawing/2014/main" id="{2AF632B7-0F88-C7FD-185B-78EE517B3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3663950"/>
            <a:ext cx="3417887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Inter Tight Regular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Inter Tight Regular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1000"/>
              <a:t>Lorem ipsum dolor sit amet, consectetuer adipiscing elit. Aenean commodo ligula eget dolor. Aenean massa. Cum sociis natoque magnis cumma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95C1333-CFCA-3C54-6931-F833AA09AE14}"/>
              </a:ext>
            </a:extLst>
          </p:cNvPr>
          <p:cNvSpPr/>
          <p:nvPr/>
        </p:nvSpPr>
        <p:spPr>
          <a:xfrm>
            <a:off x="419100" y="5319713"/>
            <a:ext cx="1993900" cy="2667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B2F32-9681-C038-9CDE-1A0D743DDAB2}"/>
              </a:ext>
            </a:extLst>
          </p:cNvPr>
          <p:cNvSpPr txBox="1"/>
          <p:nvPr/>
        </p:nvSpPr>
        <p:spPr>
          <a:xfrm>
            <a:off x="746125" y="5330825"/>
            <a:ext cx="1362075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 err="1">
                <a:solidFill>
                  <a:schemeClr val="bg1"/>
                </a:solidFill>
                <a:latin typeface="+mj-lt"/>
              </a:rPr>
              <a:t>Veltrix</a:t>
            </a:r>
            <a:r>
              <a:rPr lang="en-US" sz="1000" dirty="0">
                <a:solidFill>
                  <a:schemeClr val="bg1"/>
                </a:solidFill>
                <a:latin typeface="+mj-lt"/>
              </a:rPr>
              <a:t> Annual Report </a:t>
            </a:r>
          </a:p>
        </p:txBody>
      </p:sp>
      <p:grpSp>
        <p:nvGrpSpPr>
          <p:cNvPr id="21519" name="Group 35">
            <a:extLst>
              <a:ext uri="{FF2B5EF4-FFF2-40B4-BE49-F238E27FC236}">
                <a16:creationId xmlns:a16="http://schemas.microsoft.com/office/drawing/2014/main" id="{17359F9A-7C90-528D-7122-9D9B6084218A}"/>
              </a:ext>
            </a:extLst>
          </p:cNvPr>
          <p:cNvGrpSpPr>
            <a:grpSpLocks/>
          </p:cNvGrpSpPr>
          <p:nvPr/>
        </p:nvGrpSpPr>
        <p:grpSpPr bwMode="auto">
          <a:xfrm rot="-8100000">
            <a:off x="11514932" y="3574256"/>
            <a:ext cx="273050" cy="271463"/>
            <a:chOff x="769620" y="5367365"/>
            <a:chExt cx="634174" cy="634174"/>
          </a:xfrm>
        </p:grpSpPr>
        <p:sp>
          <p:nvSpPr>
            <p:cNvPr id="21534" name="Freeform: Shape 36">
              <a:extLst>
                <a:ext uri="{FF2B5EF4-FFF2-40B4-BE49-F238E27FC236}">
                  <a16:creationId xmlns:a16="http://schemas.microsoft.com/office/drawing/2014/main" id="{54549387-79DB-E55B-66F8-B850AE5A0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20" y="5367365"/>
              <a:ext cx="634174" cy="634174"/>
            </a:xfrm>
            <a:custGeom>
              <a:avLst/>
              <a:gdLst>
                <a:gd name="T0" fmla="*/ 634175 w 634174"/>
                <a:gd name="T1" fmla="*/ 317087 h 634174"/>
                <a:gd name="T2" fmla="*/ 317087 w 634174"/>
                <a:gd name="T3" fmla="*/ 634175 h 634174"/>
                <a:gd name="T4" fmla="*/ 0 w 634174"/>
                <a:gd name="T5" fmla="*/ 317087 h 634174"/>
                <a:gd name="T6" fmla="*/ 317087 w 634174"/>
                <a:gd name="T7" fmla="*/ 0 h 634174"/>
                <a:gd name="T8" fmla="*/ 634175 w 634174"/>
                <a:gd name="T9" fmla="*/ 317087 h 634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4174" h="634174">
                  <a:moveTo>
                    <a:pt x="634175" y="317087"/>
                  </a:moveTo>
                  <a:cubicBezTo>
                    <a:pt x="634175" y="492210"/>
                    <a:pt x="492210" y="634175"/>
                    <a:pt x="317087" y="634175"/>
                  </a:cubicBezTo>
                  <a:cubicBezTo>
                    <a:pt x="141965" y="634175"/>
                    <a:pt x="0" y="492210"/>
                    <a:pt x="0" y="317087"/>
                  </a:cubicBezTo>
                  <a:cubicBezTo>
                    <a:pt x="0" y="141965"/>
                    <a:pt x="141965" y="0"/>
                    <a:pt x="317087" y="0"/>
                  </a:cubicBezTo>
                  <a:cubicBezTo>
                    <a:pt x="492210" y="0"/>
                    <a:pt x="634175" y="141965"/>
                    <a:pt x="634175" y="3170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38" name="Graphic 51">
              <a:extLst>
                <a:ext uri="{FF2B5EF4-FFF2-40B4-BE49-F238E27FC236}">
                  <a16:creationId xmlns:a16="http://schemas.microsoft.com/office/drawing/2014/main" id="{FADDFB1B-640D-ABA0-CE8A-0F33C842B774}"/>
                </a:ext>
              </a:extLst>
            </p:cNvPr>
            <p:cNvGrpSpPr/>
            <p:nvPr/>
          </p:nvGrpSpPr>
          <p:grpSpPr>
            <a:xfrm>
              <a:off x="971169" y="5565008"/>
              <a:ext cx="240791" cy="240792"/>
              <a:chOff x="971169" y="5565008"/>
              <a:chExt cx="240791" cy="240792"/>
            </a:xfrm>
            <a:noFill/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F06CBC6-3DA8-181B-8D82-E26B421391EC}"/>
                  </a:ext>
                </a:extLst>
              </p:cNvPr>
              <p:cNvSpPr/>
              <p:nvPr/>
            </p:nvSpPr>
            <p:spPr>
              <a:xfrm>
                <a:off x="1010697" y="5565008"/>
                <a:ext cx="201263" cy="201263"/>
              </a:xfrm>
              <a:custGeom>
                <a:avLst/>
                <a:gdLst>
                  <a:gd name="connsiteX0" fmla="*/ 0 w 201263"/>
                  <a:gd name="connsiteY0" fmla="*/ 0 h 201263"/>
                  <a:gd name="connsiteX1" fmla="*/ 201263 w 201263"/>
                  <a:gd name="connsiteY1" fmla="*/ 0 h 201263"/>
                  <a:gd name="connsiteX2" fmla="*/ 201263 w 201263"/>
                  <a:gd name="connsiteY2" fmla="*/ 201263 h 201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263" h="201263">
                    <a:moveTo>
                      <a:pt x="0" y="0"/>
                    </a:moveTo>
                    <a:lnTo>
                      <a:pt x="201263" y="0"/>
                    </a:lnTo>
                    <a:lnTo>
                      <a:pt x="201263" y="201263"/>
                    </a:lnTo>
                  </a:path>
                </a:pathLst>
              </a:custGeom>
              <a:noFill/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94A4D05-123A-45DA-4FF6-50E813EAEB7D}"/>
                  </a:ext>
                </a:extLst>
              </p:cNvPr>
              <p:cNvSpPr/>
              <p:nvPr/>
            </p:nvSpPr>
            <p:spPr>
              <a:xfrm>
                <a:off x="971169" y="5565008"/>
                <a:ext cx="240791" cy="240792"/>
              </a:xfrm>
              <a:custGeom>
                <a:avLst/>
                <a:gdLst>
                  <a:gd name="connsiteX0" fmla="*/ 240792 w 240791"/>
                  <a:gd name="connsiteY0" fmla="*/ 0 h 240792"/>
                  <a:gd name="connsiteX1" fmla="*/ 0 w 240791"/>
                  <a:gd name="connsiteY1" fmla="*/ 240792 h 240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791" h="240792">
                    <a:moveTo>
                      <a:pt x="240792" y="0"/>
                    </a:moveTo>
                    <a:lnTo>
                      <a:pt x="0" y="240792"/>
                    </a:lnTo>
                  </a:path>
                </a:pathLst>
              </a:custGeom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21520" name="Group 40">
            <a:extLst>
              <a:ext uri="{FF2B5EF4-FFF2-40B4-BE49-F238E27FC236}">
                <a16:creationId xmlns:a16="http://schemas.microsoft.com/office/drawing/2014/main" id="{F548F055-2863-5BD5-F30C-29D1F552CABD}"/>
              </a:ext>
            </a:extLst>
          </p:cNvPr>
          <p:cNvGrpSpPr>
            <a:grpSpLocks/>
          </p:cNvGrpSpPr>
          <p:nvPr/>
        </p:nvGrpSpPr>
        <p:grpSpPr bwMode="auto">
          <a:xfrm rot="-8100000">
            <a:off x="11514932" y="4350543"/>
            <a:ext cx="273050" cy="271463"/>
            <a:chOff x="769620" y="5367365"/>
            <a:chExt cx="634174" cy="634174"/>
          </a:xfrm>
        </p:grpSpPr>
        <p:sp>
          <p:nvSpPr>
            <p:cNvPr id="21532" name="Freeform: Shape 41">
              <a:extLst>
                <a:ext uri="{FF2B5EF4-FFF2-40B4-BE49-F238E27FC236}">
                  <a16:creationId xmlns:a16="http://schemas.microsoft.com/office/drawing/2014/main" id="{97C7C448-A737-0603-9EF1-8C24D52D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20" y="5367365"/>
              <a:ext cx="634174" cy="634174"/>
            </a:xfrm>
            <a:custGeom>
              <a:avLst/>
              <a:gdLst>
                <a:gd name="T0" fmla="*/ 634175 w 634174"/>
                <a:gd name="T1" fmla="*/ 317087 h 634174"/>
                <a:gd name="T2" fmla="*/ 317087 w 634174"/>
                <a:gd name="T3" fmla="*/ 634175 h 634174"/>
                <a:gd name="T4" fmla="*/ 0 w 634174"/>
                <a:gd name="T5" fmla="*/ 317087 h 634174"/>
                <a:gd name="T6" fmla="*/ 317087 w 634174"/>
                <a:gd name="T7" fmla="*/ 0 h 634174"/>
                <a:gd name="T8" fmla="*/ 634175 w 634174"/>
                <a:gd name="T9" fmla="*/ 317087 h 634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4174" h="634174">
                  <a:moveTo>
                    <a:pt x="634175" y="317087"/>
                  </a:moveTo>
                  <a:cubicBezTo>
                    <a:pt x="634175" y="492210"/>
                    <a:pt x="492210" y="634175"/>
                    <a:pt x="317087" y="634175"/>
                  </a:cubicBezTo>
                  <a:cubicBezTo>
                    <a:pt x="141965" y="634175"/>
                    <a:pt x="0" y="492210"/>
                    <a:pt x="0" y="317087"/>
                  </a:cubicBezTo>
                  <a:cubicBezTo>
                    <a:pt x="0" y="141965"/>
                    <a:pt x="141965" y="0"/>
                    <a:pt x="317087" y="0"/>
                  </a:cubicBezTo>
                  <a:cubicBezTo>
                    <a:pt x="492210" y="0"/>
                    <a:pt x="634175" y="141965"/>
                    <a:pt x="634175" y="3170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43" name="Graphic 51">
              <a:extLst>
                <a:ext uri="{FF2B5EF4-FFF2-40B4-BE49-F238E27FC236}">
                  <a16:creationId xmlns:a16="http://schemas.microsoft.com/office/drawing/2014/main" id="{B2EABDAE-CB62-383A-F9FC-9D092E077773}"/>
                </a:ext>
              </a:extLst>
            </p:cNvPr>
            <p:cNvGrpSpPr/>
            <p:nvPr/>
          </p:nvGrpSpPr>
          <p:grpSpPr>
            <a:xfrm>
              <a:off x="971169" y="5565008"/>
              <a:ext cx="240791" cy="240792"/>
              <a:chOff x="971169" y="5565008"/>
              <a:chExt cx="240791" cy="240792"/>
            </a:xfrm>
            <a:no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17EF226-9254-F5EE-2E01-F9DC8BD776E8}"/>
                  </a:ext>
                </a:extLst>
              </p:cNvPr>
              <p:cNvSpPr/>
              <p:nvPr/>
            </p:nvSpPr>
            <p:spPr>
              <a:xfrm>
                <a:off x="1010697" y="5565008"/>
                <a:ext cx="201263" cy="201263"/>
              </a:xfrm>
              <a:custGeom>
                <a:avLst/>
                <a:gdLst>
                  <a:gd name="connsiteX0" fmla="*/ 0 w 201263"/>
                  <a:gd name="connsiteY0" fmla="*/ 0 h 201263"/>
                  <a:gd name="connsiteX1" fmla="*/ 201263 w 201263"/>
                  <a:gd name="connsiteY1" fmla="*/ 0 h 201263"/>
                  <a:gd name="connsiteX2" fmla="*/ 201263 w 201263"/>
                  <a:gd name="connsiteY2" fmla="*/ 201263 h 201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263" h="201263">
                    <a:moveTo>
                      <a:pt x="0" y="0"/>
                    </a:moveTo>
                    <a:lnTo>
                      <a:pt x="201263" y="0"/>
                    </a:lnTo>
                    <a:lnTo>
                      <a:pt x="201263" y="201263"/>
                    </a:lnTo>
                  </a:path>
                </a:pathLst>
              </a:custGeom>
              <a:noFill/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EF32A6D-8284-F333-0C4B-AC15649F3A12}"/>
                  </a:ext>
                </a:extLst>
              </p:cNvPr>
              <p:cNvSpPr/>
              <p:nvPr/>
            </p:nvSpPr>
            <p:spPr>
              <a:xfrm>
                <a:off x="971169" y="5565008"/>
                <a:ext cx="240791" cy="240792"/>
              </a:xfrm>
              <a:custGeom>
                <a:avLst/>
                <a:gdLst>
                  <a:gd name="connsiteX0" fmla="*/ 240792 w 240791"/>
                  <a:gd name="connsiteY0" fmla="*/ 0 h 240792"/>
                  <a:gd name="connsiteX1" fmla="*/ 0 w 240791"/>
                  <a:gd name="connsiteY1" fmla="*/ 240792 h 240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791" h="240792">
                    <a:moveTo>
                      <a:pt x="240792" y="0"/>
                    </a:moveTo>
                    <a:lnTo>
                      <a:pt x="0" y="240792"/>
                    </a:lnTo>
                  </a:path>
                </a:pathLst>
              </a:custGeom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21521" name="Group 45">
            <a:extLst>
              <a:ext uri="{FF2B5EF4-FFF2-40B4-BE49-F238E27FC236}">
                <a16:creationId xmlns:a16="http://schemas.microsoft.com/office/drawing/2014/main" id="{B28258E6-621C-7DA2-9AF6-7134CC37649C}"/>
              </a:ext>
            </a:extLst>
          </p:cNvPr>
          <p:cNvGrpSpPr>
            <a:grpSpLocks/>
          </p:cNvGrpSpPr>
          <p:nvPr/>
        </p:nvGrpSpPr>
        <p:grpSpPr bwMode="auto">
          <a:xfrm rot="-8100000">
            <a:off x="11514932" y="5123656"/>
            <a:ext cx="273050" cy="271463"/>
            <a:chOff x="769620" y="5367365"/>
            <a:chExt cx="634174" cy="634174"/>
          </a:xfrm>
        </p:grpSpPr>
        <p:sp>
          <p:nvSpPr>
            <p:cNvPr id="21530" name="Freeform: Shape 46">
              <a:extLst>
                <a:ext uri="{FF2B5EF4-FFF2-40B4-BE49-F238E27FC236}">
                  <a16:creationId xmlns:a16="http://schemas.microsoft.com/office/drawing/2014/main" id="{7F23B3B6-8E97-0878-5BD4-04E164026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20" y="5367365"/>
              <a:ext cx="634174" cy="634174"/>
            </a:xfrm>
            <a:custGeom>
              <a:avLst/>
              <a:gdLst>
                <a:gd name="T0" fmla="*/ 634175 w 634174"/>
                <a:gd name="T1" fmla="*/ 317087 h 634174"/>
                <a:gd name="T2" fmla="*/ 317087 w 634174"/>
                <a:gd name="T3" fmla="*/ 634175 h 634174"/>
                <a:gd name="T4" fmla="*/ 0 w 634174"/>
                <a:gd name="T5" fmla="*/ 317087 h 634174"/>
                <a:gd name="T6" fmla="*/ 317087 w 634174"/>
                <a:gd name="T7" fmla="*/ 0 h 634174"/>
                <a:gd name="T8" fmla="*/ 634175 w 634174"/>
                <a:gd name="T9" fmla="*/ 317087 h 634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4174" h="634174">
                  <a:moveTo>
                    <a:pt x="634175" y="317087"/>
                  </a:moveTo>
                  <a:cubicBezTo>
                    <a:pt x="634175" y="492210"/>
                    <a:pt x="492210" y="634175"/>
                    <a:pt x="317087" y="634175"/>
                  </a:cubicBezTo>
                  <a:cubicBezTo>
                    <a:pt x="141965" y="634175"/>
                    <a:pt x="0" y="492210"/>
                    <a:pt x="0" y="317087"/>
                  </a:cubicBezTo>
                  <a:cubicBezTo>
                    <a:pt x="0" y="141965"/>
                    <a:pt x="141965" y="0"/>
                    <a:pt x="317087" y="0"/>
                  </a:cubicBezTo>
                  <a:cubicBezTo>
                    <a:pt x="492210" y="0"/>
                    <a:pt x="634175" y="141965"/>
                    <a:pt x="634175" y="3170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48" name="Graphic 51">
              <a:extLst>
                <a:ext uri="{FF2B5EF4-FFF2-40B4-BE49-F238E27FC236}">
                  <a16:creationId xmlns:a16="http://schemas.microsoft.com/office/drawing/2014/main" id="{305D8D10-2817-34E0-8935-9631866CB6D2}"/>
                </a:ext>
              </a:extLst>
            </p:cNvPr>
            <p:cNvGrpSpPr/>
            <p:nvPr/>
          </p:nvGrpSpPr>
          <p:grpSpPr>
            <a:xfrm>
              <a:off x="971169" y="5565008"/>
              <a:ext cx="240791" cy="240792"/>
              <a:chOff x="971169" y="5565008"/>
              <a:chExt cx="240791" cy="240792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2834053-478A-2CBB-9493-95C807E1BC70}"/>
                  </a:ext>
                </a:extLst>
              </p:cNvPr>
              <p:cNvSpPr/>
              <p:nvPr/>
            </p:nvSpPr>
            <p:spPr>
              <a:xfrm>
                <a:off x="1010697" y="5565008"/>
                <a:ext cx="201263" cy="201263"/>
              </a:xfrm>
              <a:custGeom>
                <a:avLst/>
                <a:gdLst>
                  <a:gd name="connsiteX0" fmla="*/ 0 w 201263"/>
                  <a:gd name="connsiteY0" fmla="*/ 0 h 201263"/>
                  <a:gd name="connsiteX1" fmla="*/ 201263 w 201263"/>
                  <a:gd name="connsiteY1" fmla="*/ 0 h 201263"/>
                  <a:gd name="connsiteX2" fmla="*/ 201263 w 201263"/>
                  <a:gd name="connsiteY2" fmla="*/ 201263 h 201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263" h="201263">
                    <a:moveTo>
                      <a:pt x="0" y="0"/>
                    </a:moveTo>
                    <a:lnTo>
                      <a:pt x="201263" y="0"/>
                    </a:lnTo>
                    <a:lnTo>
                      <a:pt x="201263" y="201263"/>
                    </a:lnTo>
                  </a:path>
                </a:pathLst>
              </a:custGeom>
              <a:noFill/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052F24E-16C6-963F-22B0-97D44F15A894}"/>
                  </a:ext>
                </a:extLst>
              </p:cNvPr>
              <p:cNvSpPr/>
              <p:nvPr/>
            </p:nvSpPr>
            <p:spPr>
              <a:xfrm>
                <a:off x="971169" y="5565008"/>
                <a:ext cx="240791" cy="240792"/>
              </a:xfrm>
              <a:custGeom>
                <a:avLst/>
                <a:gdLst>
                  <a:gd name="connsiteX0" fmla="*/ 240792 w 240791"/>
                  <a:gd name="connsiteY0" fmla="*/ 0 h 240792"/>
                  <a:gd name="connsiteX1" fmla="*/ 0 w 240791"/>
                  <a:gd name="connsiteY1" fmla="*/ 240792 h 240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791" h="240792">
                    <a:moveTo>
                      <a:pt x="240792" y="0"/>
                    </a:moveTo>
                    <a:lnTo>
                      <a:pt x="0" y="240792"/>
                    </a:lnTo>
                  </a:path>
                </a:pathLst>
              </a:custGeom>
              <a:ln w="95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</p:grpSp>
      <p:grpSp>
        <p:nvGrpSpPr>
          <p:cNvPr id="21522" name="Group 55">
            <a:extLst>
              <a:ext uri="{FF2B5EF4-FFF2-40B4-BE49-F238E27FC236}">
                <a16:creationId xmlns:a16="http://schemas.microsoft.com/office/drawing/2014/main" id="{9837FE5F-5EB6-6B79-75D0-E6ED957E2551}"/>
              </a:ext>
            </a:extLst>
          </p:cNvPr>
          <p:cNvGrpSpPr>
            <a:grpSpLocks/>
          </p:cNvGrpSpPr>
          <p:nvPr/>
        </p:nvGrpSpPr>
        <p:grpSpPr bwMode="auto">
          <a:xfrm rot="2700000">
            <a:off x="3380581" y="5314157"/>
            <a:ext cx="288925" cy="287338"/>
            <a:chOff x="769620" y="5367365"/>
            <a:chExt cx="634174" cy="634174"/>
          </a:xfrm>
        </p:grpSpPr>
        <p:sp>
          <p:nvSpPr>
            <p:cNvPr id="21528" name="Freeform: Shape 56">
              <a:extLst>
                <a:ext uri="{FF2B5EF4-FFF2-40B4-BE49-F238E27FC236}">
                  <a16:creationId xmlns:a16="http://schemas.microsoft.com/office/drawing/2014/main" id="{1CDCD48B-3624-6DDB-C59C-E02D36B29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20" y="5367365"/>
              <a:ext cx="634174" cy="634174"/>
            </a:xfrm>
            <a:custGeom>
              <a:avLst/>
              <a:gdLst>
                <a:gd name="T0" fmla="*/ 634175 w 634174"/>
                <a:gd name="T1" fmla="*/ 317087 h 634174"/>
                <a:gd name="T2" fmla="*/ 317087 w 634174"/>
                <a:gd name="T3" fmla="*/ 634175 h 634174"/>
                <a:gd name="T4" fmla="*/ 0 w 634174"/>
                <a:gd name="T5" fmla="*/ 317087 h 634174"/>
                <a:gd name="T6" fmla="*/ 317087 w 634174"/>
                <a:gd name="T7" fmla="*/ 0 h 634174"/>
                <a:gd name="T8" fmla="*/ 634175 w 634174"/>
                <a:gd name="T9" fmla="*/ 317087 h 634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4174" h="634174">
                  <a:moveTo>
                    <a:pt x="634175" y="317087"/>
                  </a:moveTo>
                  <a:cubicBezTo>
                    <a:pt x="634175" y="492210"/>
                    <a:pt x="492210" y="634175"/>
                    <a:pt x="317087" y="634175"/>
                  </a:cubicBezTo>
                  <a:cubicBezTo>
                    <a:pt x="141965" y="634175"/>
                    <a:pt x="0" y="492210"/>
                    <a:pt x="0" y="317087"/>
                  </a:cubicBezTo>
                  <a:cubicBezTo>
                    <a:pt x="0" y="141965"/>
                    <a:pt x="141965" y="0"/>
                    <a:pt x="317087" y="0"/>
                  </a:cubicBezTo>
                  <a:cubicBezTo>
                    <a:pt x="492210" y="0"/>
                    <a:pt x="634175" y="141965"/>
                    <a:pt x="634175" y="31708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58" name="Graphic 51">
              <a:extLst>
                <a:ext uri="{FF2B5EF4-FFF2-40B4-BE49-F238E27FC236}">
                  <a16:creationId xmlns:a16="http://schemas.microsoft.com/office/drawing/2014/main" id="{9D0762D6-33AC-C8C4-1747-642280651532}"/>
                </a:ext>
              </a:extLst>
            </p:cNvPr>
            <p:cNvGrpSpPr/>
            <p:nvPr/>
          </p:nvGrpSpPr>
          <p:grpSpPr>
            <a:xfrm>
              <a:off x="971169" y="5565008"/>
              <a:ext cx="240791" cy="240792"/>
              <a:chOff x="971169" y="5565008"/>
              <a:chExt cx="240791" cy="240792"/>
            </a:xfrm>
            <a:noFill/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5132BF1-82EE-8013-BA2B-CDA836E304AB}"/>
                  </a:ext>
                </a:extLst>
              </p:cNvPr>
              <p:cNvSpPr/>
              <p:nvPr/>
            </p:nvSpPr>
            <p:spPr>
              <a:xfrm>
                <a:off x="1010697" y="5565008"/>
                <a:ext cx="201263" cy="201263"/>
              </a:xfrm>
              <a:custGeom>
                <a:avLst/>
                <a:gdLst>
                  <a:gd name="connsiteX0" fmla="*/ 0 w 201263"/>
                  <a:gd name="connsiteY0" fmla="*/ 0 h 201263"/>
                  <a:gd name="connsiteX1" fmla="*/ 201263 w 201263"/>
                  <a:gd name="connsiteY1" fmla="*/ 0 h 201263"/>
                  <a:gd name="connsiteX2" fmla="*/ 201263 w 201263"/>
                  <a:gd name="connsiteY2" fmla="*/ 201263 h 201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263" h="201263">
                    <a:moveTo>
                      <a:pt x="0" y="0"/>
                    </a:moveTo>
                    <a:lnTo>
                      <a:pt x="201263" y="0"/>
                    </a:lnTo>
                    <a:lnTo>
                      <a:pt x="201263" y="201263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502005B-C218-D79E-62A4-6A26C38C47FE}"/>
                  </a:ext>
                </a:extLst>
              </p:cNvPr>
              <p:cNvSpPr/>
              <p:nvPr/>
            </p:nvSpPr>
            <p:spPr>
              <a:xfrm>
                <a:off x="971169" y="5565008"/>
                <a:ext cx="240791" cy="240792"/>
              </a:xfrm>
              <a:custGeom>
                <a:avLst/>
                <a:gdLst>
                  <a:gd name="connsiteX0" fmla="*/ 240792 w 240791"/>
                  <a:gd name="connsiteY0" fmla="*/ 0 h 240792"/>
                  <a:gd name="connsiteX1" fmla="*/ 0 w 240791"/>
                  <a:gd name="connsiteY1" fmla="*/ 240792 h 240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791" h="240792">
                    <a:moveTo>
                      <a:pt x="240792" y="0"/>
                    </a:moveTo>
                    <a:lnTo>
                      <a:pt x="0" y="240792"/>
                    </a:lnTo>
                  </a:path>
                </a:pathLst>
              </a:custGeom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8F49401-F397-AF2C-C7B0-867336E8DDD9}"/>
              </a:ext>
            </a:extLst>
          </p:cNvPr>
          <p:cNvSpPr txBox="1"/>
          <p:nvPr/>
        </p:nvSpPr>
        <p:spPr>
          <a:xfrm>
            <a:off x="642938" y="392113"/>
            <a:ext cx="5254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 err="1">
                <a:latin typeface="+mj-lt"/>
              </a:rPr>
              <a:t>Veltrix</a:t>
            </a:r>
            <a:endParaRPr lang="en-US" sz="1000" dirty="0">
              <a:latin typeface="+mj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56CC47B-1C30-CE32-1553-67E3E9E6E925}"/>
              </a:ext>
            </a:extLst>
          </p:cNvPr>
          <p:cNvSpPr/>
          <p:nvPr/>
        </p:nvSpPr>
        <p:spPr>
          <a:xfrm>
            <a:off x="419100" y="428625"/>
            <a:ext cx="153988" cy="1698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4A2113-2819-186E-13F1-EA96A124315E}"/>
              </a:ext>
            </a:extLst>
          </p:cNvPr>
          <p:cNvSpPr txBox="1"/>
          <p:nvPr/>
        </p:nvSpPr>
        <p:spPr>
          <a:xfrm>
            <a:off x="5665788" y="392113"/>
            <a:ext cx="450850" cy="230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+mj-lt"/>
              </a:rPr>
              <a:t>2050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C53484-E41D-2761-38EF-25A9D65EC0E6}"/>
              </a:ext>
            </a:extLst>
          </p:cNvPr>
          <p:cNvSpPr txBox="1"/>
          <p:nvPr/>
        </p:nvSpPr>
        <p:spPr>
          <a:xfrm>
            <a:off x="11071225" y="392113"/>
            <a:ext cx="809625" cy="230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+mj-lt"/>
              </a:rPr>
              <a:t>Presentation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5E13359-0701-15BD-7B87-F3B8E8395A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28225" y="1957388"/>
            <a:ext cx="1844675" cy="12065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AE7413-30B5-817A-513D-865B8D264AB8}"/>
              </a:ext>
            </a:extLst>
          </p:cNvPr>
          <p:cNvSpPr txBox="1"/>
          <p:nvPr/>
        </p:nvSpPr>
        <p:spPr>
          <a:xfrm>
            <a:off x="3394075" y="2957513"/>
            <a:ext cx="5403850" cy="10064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00" dirty="0">
                <a:latin typeface="+mj-lt"/>
              </a:rPr>
              <a:t>Thank You</a:t>
            </a:r>
          </a:p>
        </p:txBody>
      </p:sp>
      <p:sp>
        <p:nvSpPr>
          <p:cNvPr id="31747" name="Graphic 17">
            <a:extLst>
              <a:ext uri="{FF2B5EF4-FFF2-40B4-BE49-F238E27FC236}">
                <a16:creationId xmlns:a16="http://schemas.microsoft.com/office/drawing/2014/main" id="{DD3F5FDD-2E54-0B4E-F304-2284AD5AA4A5}"/>
              </a:ext>
            </a:extLst>
          </p:cNvPr>
          <p:cNvSpPr>
            <a:spLocks/>
          </p:cNvSpPr>
          <p:nvPr/>
        </p:nvSpPr>
        <p:spPr bwMode="auto">
          <a:xfrm flipV="1">
            <a:off x="419100" y="4222750"/>
            <a:ext cx="1452563" cy="1938338"/>
          </a:xfrm>
          <a:custGeom>
            <a:avLst/>
            <a:gdLst>
              <a:gd name="T0" fmla="*/ 1453200 w 2259717"/>
              <a:gd name="T1" fmla="*/ 68838 h 2693240"/>
              <a:gd name="T2" fmla="*/ 1453200 w 2259717"/>
              <a:gd name="T3" fmla="*/ 1445861 h 2693240"/>
              <a:gd name="T4" fmla="*/ 1406149 w 2259717"/>
              <a:gd name="T5" fmla="*/ 1557002 h 2693240"/>
              <a:gd name="T6" fmla="*/ 1063767 w 2259717"/>
              <a:gd name="T7" fmla="*/ 1892104 h 2693240"/>
              <a:gd name="T8" fmla="*/ 950211 w 2259717"/>
              <a:gd name="T9" fmla="*/ 1938154 h 2693240"/>
              <a:gd name="T10" fmla="*/ 70334 w 2259717"/>
              <a:gd name="T11" fmla="*/ 1938154 h 2693240"/>
              <a:gd name="T12" fmla="*/ 0 w 2259717"/>
              <a:gd name="T13" fmla="*/ 1869316 h 2693240"/>
              <a:gd name="T14" fmla="*/ 0 w 2259717"/>
              <a:gd name="T15" fmla="*/ 484280 h 2693240"/>
              <a:gd name="T16" fmla="*/ 47050 w 2259717"/>
              <a:gd name="T17" fmla="*/ 373139 h 2693240"/>
              <a:gd name="T18" fmla="*/ 381203 w 2259717"/>
              <a:gd name="T19" fmla="*/ 46050 h 2693240"/>
              <a:gd name="T20" fmla="*/ 494802 w 2259717"/>
              <a:gd name="T21" fmla="*/ 0 h 2693240"/>
              <a:gd name="T22" fmla="*/ 1382910 w 2259717"/>
              <a:gd name="T23" fmla="*/ 0 h 2693240"/>
              <a:gd name="T24" fmla="*/ 1453244 w 2259717"/>
              <a:gd name="T25" fmla="*/ 68838 h 269324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59717" h="2693240">
                <a:moveTo>
                  <a:pt x="2259650" y="95657"/>
                </a:moveTo>
                <a:lnTo>
                  <a:pt x="2259650" y="2009155"/>
                </a:lnTo>
                <a:cubicBezTo>
                  <a:pt x="2259650" y="2067100"/>
                  <a:pt x="2233369" y="2122651"/>
                  <a:pt x="2186488" y="2163595"/>
                </a:cubicBezTo>
                <a:lnTo>
                  <a:pt x="1654102" y="2629250"/>
                </a:lnTo>
                <a:cubicBezTo>
                  <a:pt x="1607289" y="2670194"/>
                  <a:pt x="1543778" y="2693240"/>
                  <a:pt x="1477529" y="2693240"/>
                </a:cubicBezTo>
                <a:lnTo>
                  <a:pt x="109365" y="2693240"/>
                </a:lnTo>
                <a:cubicBezTo>
                  <a:pt x="49002" y="2693240"/>
                  <a:pt x="0" y="2650440"/>
                  <a:pt x="0" y="2597583"/>
                </a:cubicBezTo>
                <a:lnTo>
                  <a:pt x="0" y="672951"/>
                </a:lnTo>
                <a:cubicBezTo>
                  <a:pt x="0" y="615006"/>
                  <a:pt x="26281" y="559456"/>
                  <a:pt x="73161" y="518511"/>
                </a:cubicBezTo>
                <a:lnTo>
                  <a:pt x="592750" y="63991"/>
                </a:lnTo>
                <a:cubicBezTo>
                  <a:pt x="639631" y="22986"/>
                  <a:pt x="703142" y="0"/>
                  <a:pt x="769391" y="0"/>
                </a:cubicBezTo>
                <a:lnTo>
                  <a:pt x="2150353" y="0"/>
                </a:lnTo>
                <a:cubicBezTo>
                  <a:pt x="2210716" y="0"/>
                  <a:pt x="2259718" y="42800"/>
                  <a:pt x="2259718" y="95657"/>
                </a:cubicBezTo>
                <a:lnTo>
                  <a:pt x="2259650" y="956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8" name="Graphic 17">
            <a:extLst>
              <a:ext uri="{FF2B5EF4-FFF2-40B4-BE49-F238E27FC236}">
                <a16:creationId xmlns:a16="http://schemas.microsoft.com/office/drawing/2014/main" id="{D91CF902-3A11-7D47-8899-5F51BEC5FE0C}"/>
              </a:ext>
            </a:extLst>
          </p:cNvPr>
          <p:cNvSpPr/>
          <p:nvPr/>
        </p:nvSpPr>
        <p:spPr>
          <a:xfrm flipV="1">
            <a:off x="10320338" y="1466850"/>
            <a:ext cx="1452562" cy="1938338"/>
          </a:xfrm>
          <a:custGeom>
            <a:avLst/>
            <a:gdLst>
              <a:gd name="connsiteX0" fmla="*/ 2259650 w 2259717"/>
              <a:gd name="connsiteY0" fmla="*/ 95657 h 2693240"/>
              <a:gd name="connsiteX1" fmla="*/ 2259650 w 2259717"/>
              <a:gd name="connsiteY1" fmla="*/ 2009155 h 2693240"/>
              <a:gd name="connsiteX2" fmla="*/ 2186488 w 2259717"/>
              <a:gd name="connsiteY2" fmla="*/ 2163595 h 2693240"/>
              <a:gd name="connsiteX3" fmla="*/ 1654102 w 2259717"/>
              <a:gd name="connsiteY3" fmla="*/ 2629250 h 2693240"/>
              <a:gd name="connsiteX4" fmla="*/ 1477529 w 2259717"/>
              <a:gd name="connsiteY4" fmla="*/ 2693240 h 2693240"/>
              <a:gd name="connsiteX5" fmla="*/ 109365 w 2259717"/>
              <a:gd name="connsiteY5" fmla="*/ 2693240 h 2693240"/>
              <a:gd name="connsiteX6" fmla="*/ 0 w 2259717"/>
              <a:gd name="connsiteY6" fmla="*/ 2597583 h 2693240"/>
              <a:gd name="connsiteX7" fmla="*/ 0 w 2259717"/>
              <a:gd name="connsiteY7" fmla="*/ 672951 h 2693240"/>
              <a:gd name="connsiteX8" fmla="*/ 73161 w 2259717"/>
              <a:gd name="connsiteY8" fmla="*/ 518511 h 2693240"/>
              <a:gd name="connsiteX9" fmla="*/ 592750 w 2259717"/>
              <a:gd name="connsiteY9" fmla="*/ 63991 h 2693240"/>
              <a:gd name="connsiteX10" fmla="*/ 769391 w 2259717"/>
              <a:gd name="connsiteY10" fmla="*/ 0 h 2693240"/>
              <a:gd name="connsiteX11" fmla="*/ 2150353 w 2259717"/>
              <a:gd name="connsiteY11" fmla="*/ 0 h 2693240"/>
              <a:gd name="connsiteX12" fmla="*/ 2259718 w 2259717"/>
              <a:gd name="connsiteY12" fmla="*/ 95657 h 269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59717" h="2693240">
                <a:moveTo>
                  <a:pt x="2259650" y="95657"/>
                </a:moveTo>
                <a:lnTo>
                  <a:pt x="2259650" y="2009155"/>
                </a:lnTo>
                <a:cubicBezTo>
                  <a:pt x="2259650" y="2067100"/>
                  <a:pt x="2233369" y="2122651"/>
                  <a:pt x="2186488" y="2163595"/>
                </a:cubicBezTo>
                <a:lnTo>
                  <a:pt x="1654102" y="2629250"/>
                </a:lnTo>
                <a:cubicBezTo>
                  <a:pt x="1607289" y="2670194"/>
                  <a:pt x="1543778" y="2693240"/>
                  <a:pt x="1477529" y="2693240"/>
                </a:cubicBezTo>
                <a:lnTo>
                  <a:pt x="109365" y="2693240"/>
                </a:lnTo>
                <a:cubicBezTo>
                  <a:pt x="49002" y="2693240"/>
                  <a:pt x="0" y="2650440"/>
                  <a:pt x="0" y="2597583"/>
                </a:cubicBezTo>
                <a:lnTo>
                  <a:pt x="0" y="672951"/>
                </a:lnTo>
                <a:cubicBezTo>
                  <a:pt x="0" y="615006"/>
                  <a:pt x="26281" y="559456"/>
                  <a:pt x="73161" y="518511"/>
                </a:cubicBezTo>
                <a:lnTo>
                  <a:pt x="592750" y="63991"/>
                </a:lnTo>
                <a:cubicBezTo>
                  <a:pt x="639631" y="22986"/>
                  <a:pt x="703142" y="0"/>
                  <a:pt x="769391" y="0"/>
                </a:cubicBezTo>
                <a:lnTo>
                  <a:pt x="2150353" y="0"/>
                </a:lnTo>
                <a:cubicBezTo>
                  <a:pt x="2210716" y="0"/>
                  <a:pt x="2259718" y="42800"/>
                  <a:pt x="2259718" y="95657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1749" name="TextBox 8">
            <a:extLst>
              <a:ext uri="{FF2B5EF4-FFF2-40B4-BE49-F238E27FC236}">
                <a16:creationId xmlns:a16="http://schemas.microsoft.com/office/drawing/2014/main" id="{B97478CC-A110-F695-78C6-324108600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3981450"/>
            <a:ext cx="39370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Inter Tight Regular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Inter Tight Regular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Inter Tight Regular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Tight Regular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en-US" sz="1000"/>
              <a:t>To Our Employees, Customers, And Partners.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A9EF0-8440-EA8D-990D-BAB84C6BD17A}"/>
              </a:ext>
            </a:extLst>
          </p:cNvPr>
          <p:cNvSpPr txBox="1"/>
          <p:nvPr/>
        </p:nvSpPr>
        <p:spPr>
          <a:xfrm>
            <a:off x="447675" y="4278313"/>
            <a:ext cx="8477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chemeClr val="accent4"/>
                </a:solidFill>
                <a:latin typeface="+mj-lt"/>
              </a:rPr>
              <a:t>4.9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960E9-2831-03D9-579A-ACFEA0E37946}"/>
              </a:ext>
            </a:extLst>
          </p:cNvPr>
          <p:cNvSpPr txBox="1"/>
          <p:nvPr/>
        </p:nvSpPr>
        <p:spPr>
          <a:xfrm>
            <a:off x="1076325" y="5683250"/>
            <a:ext cx="12319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accent4"/>
                </a:solidFill>
                <a:latin typeface="+mj-lt"/>
              </a:rPr>
              <a:t>Customer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accent4"/>
                </a:solidFill>
                <a:latin typeface="+mj-lt"/>
              </a:rPr>
              <a:t>Rating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69A8F-F064-642D-7104-2D74EFB4B089}"/>
              </a:ext>
            </a:extLst>
          </p:cNvPr>
          <p:cNvSpPr txBox="1"/>
          <p:nvPr/>
        </p:nvSpPr>
        <p:spPr>
          <a:xfrm>
            <a:off x="10320338" y="1547813"/>
            <a:ext cx="8477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10+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3134FB-6068-8C45-D6A7-B642BE2B38CE}"/>
              </a:ext>
            </a:extLst>
          </p:cNvPr>
          <p:cNvSpPr txBox="1"/>
          <p:nvPr/>
        </p:nvSpPr>
        <p:spPr>
          <a:xfrm>
            <a:off x="11156950" y="2952750"/>
            <a:ext cx="7635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+mj-lt"/>
              </a:rPr>
              <a:t>Project Done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24303-BA96-687A-3D57-4C7895C5A9A4}"/>
              </a:ext>
            </a:extLst>
          </p:cNvPr>
          <p:cNvSpPr txBox="1"/>
          <p:nvPr/>
        </p:nvSpPr>
        <p:spPr>
          <a:xfrm>
            <a:off x="642938" y="392113"/>
            <a:ext cx="5254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 err="1">
                <a:latin typeface="+mj-lt"/>
              </a:rPr>
              <a:t>Veltrix</a:t>
            </a:r>
            <a:endParaRPr lang="en-US" sz="1000" dirty="0">
              <a:latin typeface="+mj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68EDF4-ACD8-B962-F9C8-DA88CD37EEED}"/>
              </a:ext>
            </a:extLst>
          </p:cNvPr>
          <p:cNvSpPr/>
          <p:nvPr/>
        </p:nvSpPr>
        <p:spPr>
          <a:xfrm>
            <a:off x="419100" y="428625"/>
            <a:ext cx="153988" cy="1698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3E621-1D60-354B-0303-5307734F944C}"/>
              </a:ext>
            </a:extLst>
          </p:cNvPr>
          <p:cNvSpPr txBox="1"/>
          <p:nvPr/>
        </p:nvSpPr>
        <p:spPr>
          <a:xfrm>
            <a:off x="5665788" y="392113"/>
            <a:ext cx="450850" cy="230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+mj-lt"/>
              </a:rPr>
              <a:t>2050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C6CF9C-C575-E88F-8A0B-4ECC2F4BA952}"/>
              </a:ext>
            </a:extLst>
          </p:cNvPr>
          <p:cNvSpPr txBox="1"/>
          <p:nvPr/>
        </p:nvSpPr>
        <p:spPr>
          <a:xfrm>
            <a:off x="11071225" y="392113"/>
            <a:ext cx="809625" cy="230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+mj-lt"/>
              </a:rPr>
              <a:t>Presentation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CE0A11A-ED99-1EA3-0491-3BCAC5D58A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100" y="1447800"/>
            <a:ext cx="898525" cy="9318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32246-10BA-3F94-4ECC-9A46775028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891838" y="5227638"/>
            <a:ext cx="904875" cy="93345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F4A2"/>
      </a:accent1>
      <a:accent2>
        <a:srgbClr val="1AD685"/>
      </a:accent2>
      <a:accent3>
        <a:srgbClr val="00B050"/>
      </a:accent3>
      <a:accent4>
        <a:srgbClr val="292B2A"/>
      </a:accent4>
      <a:accent5>
        <a:srgbClr val="262626"/>
      </a:accent5>
      <a:accent6>
        <a:srgbClr val="0C0C0C"/>
      </a:accent6>
      <a:hlink>
        <a:srgbClr val="0563C1"/>
      </a:hlink>
      <a:folHlink>
        <a:srgbClr val="954F72"/>
      </a:folHlink>
    </a:clrScheme>
    <a:fontScheme name="Custom 19">
      <a:majorFont>
        <a:latin typeface="Inter Tight Regular"/>
        <a:ea typeface=""/>
        <a:cs typeface=""/>
      </a:majorFont>
      <a:minorFont>
        <a:latin typeface="Inter Tigh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5414</TotalTime>
  <Words>1459</Words>
  <Application>Microsoft Macintosh PowerPoint</Application>
  <PresentationFormat>Widescreen</PresentationFormat>
  <Paragraphs>295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Inter Tight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Calon orang sukses</dc:creator>
  <cp:lastModifiedBy>BUDI TRIATMOJO</cp:lastModifiedBy>
  <cp:revision>205</cp:revision>
  <dcterms:created xsi:type="dcterms:W3CDTF">2025-05-04T02:12:53Z</dcterms:created>
  <dcterms:modified xsi:type="dcterms:W3CDTF">2025-11-16T22:52:10Z</dcterms:modified>
</cp:coreProperties>
</file>